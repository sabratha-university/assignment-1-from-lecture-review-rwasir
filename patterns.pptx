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8" r:id="rId10"/>
    <p:sldId id="269" r:id="rId11"/>
  </p:sldIdLst>
  <p:sldSz cx="18288000" cy="10287000"/>
  <p:notesSz cx="6858000" cy="9144000"/>
  <p:embeddedFontLst>
    <p:embeddedFont>
      <p:font typeface="Wellfleet" charset="0"/>
      <p:regular r:id="rId12"/>
    </p:embeddedFont>
    <p:embeddedFont>
      <p:font typeface="Castellar" pitchFamily="18" charset="0"/>
      <p:regular r:id="rId13"/>
    </p:embeddedFont>
    <p:embeddedFont>
      <p:font typeface="Calibri" pitchFamily="34" charset="0"/>
      <p:regular r:id="rId14"/>
      <p:bold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-516" y="-4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6" Type="http://schemas.openxmlformats.org/officeDocument/2006/relationships/image" Target="../media/image9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5" Type="http://schemas.openxmlformats.org/officeDocument/2006/relationships/image" Target="../media/image8.jp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5.png"/><Relationship Id="rId14" Type="http://schemas.openxmlformats.org/officeDocument/2006/relationships/image" Target="../media/image1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1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6.png"/><Relationship Id="rId5" Type="http://schemas.openxmlformats.org/officeDocument/2006/relationships/image" Target="../media/image5.svg"/><Relationship Id="rId10" Type="http://schemas.openxmlformats.org/officeDocument/2006/relationships/image" Target="../media/image10.jpeg"/><Relationship Id="rId4" Type="http://schemas.openxmlformats.org/officeDocument/2006/relationships/image" Target="../media/image3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8" Type="http://schemas.openxmlformats.org/officeDocument/2006/relationships/image" Target="../media/image4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7" Type="http://schemas.openxmlformats.org/officeDocument/2006/relationships/image" Target="../media/image13.png"/><Relationship Id="rId2" Type="http://schemas.openxmlformats.org/officeDocument/2006/relationships/image" Target="../media/image2.png"/><Relationship Id="rId16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5.svg"/><Relationship Id="rId15" Type="http://schemas.openxmlformats.org/officeDocument/2006/relationships/image" Target="../media/image12.png"/><Relationship Id="rId10" Type="http://schemas.openxmlformats.org/officeDocument/2006/relationships/image" Target="../media/image6.png"/><Relationship Id="rId19" Type="http://schemas.openxmlformats.org/officeDocument/2006/relationships/image" Target="../media/image14.png"/><Relationship Id="rId4" Type="http://schemas.openxmlformats.org/officeDocument/2006/relationships/image" Target="../media/image3.png"/><Relationship Id="rId9" Type="http://schemas.openxmlformats.org/officeDocument/2006/relationships/image" Target="../media/image9.svg"/><Relationship Id="rId1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5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1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5.svg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8.gif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1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5.svg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5" Type="http://schemas.openxmlformats.org/officeDocument/2006/relationships/image" Target="../media/image19.gif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5.png"/><Relationship Id="rId14" Type="http://schemas.openxmlformats.org/officeDocument/2006/relationships/image" Target="../media/image13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984538" y="2778727"/>
            <a:ext cx="6516278" cy="5182890"/>
          </a:xfrm>
          <a:custGeom>
            <a:avLst/>
            <a:gdLst/>
            <a:ahLst/>
            <a:cxnLst/>
            <a:rect l="l" t="t" r="r" b="b"/>
            <a:pathLst>
              <a:path w="7644355" h="7029621">
                <a:moveTo>
                  <a:pt x="0" y="0"/>
                </a:moveTo>
                <a:lnTo>
                  <a:pt x="7644355" y="0"/>
                </a:lnTo>
                <a:lnTo>
                  <a:pt x="7644355" y="7029622"/>
                </a:lnTo>
                <a:lnTo>
                  <a:pt x="0" y="70296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597551" y="-5638914"/>
            <a:ext cx="10348352" cy="8767876"/>
          </a:xfrm>
          <a:custGeom>
            <a:avLst/>
            <a:gdLst/>
            <a:ahLst/>
            <a:cxnLst/>
            <a:rect l="l" t="t" r="r" b="b"/>
            <a:pathLst>
              <a:path w="10348352" h="8767876">
                <a:moveTo>
                  <a:pt x="0" y="0"/>
                </a:moveTo>
                <a:lnTo>
                  <a:pt x="10348351" y="0"/>
                </a:lnTo>
                <a:lnTo>
                  <a:pt x="10348351" y="8767876"/>
                </a:lnTo>
                <a:lnTo>
                  <a:pt x="0" y="87678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-3037862" y="7634174"/>
            <a:ext cx="10348352" cy="8767876"/>
          </a:xfrm>
          <a:custGeom>
            <a:avLst/>
            <a:gdLst/>
            <a:ahLst/>
            <a:cxnLst/>
            <a:rect l="l" t="t" r="r" b="b"/>
            <a:pathLst>
              <a:path w="10348352" h="8767876">
                <a:moveTo>
                  <a:pt x="10348352" y="0"/>
                </a:moveTo>
                <a:lnTo>
                  <a:pt x="0" y="0"/>
                </a:lnTo>
                <a:lnTo>
                  <a:pt x="0" y="8767876"/>
                </a:lnTo>
                <a:lnTo>
                  <a:pt x="10348352" y="8767876"/>
                </a:lnTo>
                <a:lnTo>
                  <a:pt x="1034835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713988" y="8872538"/>
            <a:ext cx="5700605" cy="4114800"/>
          </a:xfrm>
          <a:custGeom>
            <a:avLst/>
            <a:gdLst/>
            <a:ahLst/>
            <a:cxnLst/>
            <a:rect l="l" t="t" r="r" b="b"/>
            <a:pathLst>
              <a:path w="5700605" h="4114800">
                <a:moveTo>
                  <a:pt x="0" y="0"/>
                </a:moveTo>
                <a:lnTo>
                  <a:pt x="5700604" y="0"/>
                </a:lnTo>
                <a:lnTo>
                  <a:pt x="57006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437698" y="-1905000"/>
            <a:ext cx="5700605" cy="4114800"/>
          </a:xfrm>
          <a:custGeom>
            <a:avLst/>
            <a:gdLst/>
            <a:ahLst/>
            <a:cxnLst/>
            <a:rect l="l" t="t" r="r" b="b"/>
            <a:pathLst>
              <a:path w="5700605" h="4114800">
                <a:moveTo>
                  <a:pt x="0" y="0"/>
                </a:moveTo>
                <a:lnTo>
                  <a:pt x="5700604" y="0"/>
                </a:lnTo>
                <a:lnTo>
                  <a:pt x="57006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789256" y="1290255"/>
            <a:ext cx="1104559" cy="919545"/>
          </a:xfrm>
          <a:custGeom>
            <a:avLst/>
            <a:gdLst/>
            <a:ahLst/>
            <a:cxnLst/>
            <a:rect l="l" t="t" r="r" b="b"/>
            <a:pathLst>
              <a:path w="1104559" h="919545">
                <a:moveTo>
                  <a:pt x="0" y="0"/>
                </a:moveTo>
                <a:lnTo>
                  <a:pt x="1104559" y="0"/>
                </a:lnTo>
                <a:lnTo>
                  <a:pt x="1104559" y="919545"/>
                </a:lnTo>
                <a:lnTo>
                  <a:pt x="0" y="91954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228281" y="7738765"/>
            <a:ext cx="1104559" cy="919545"/>
          </a:xfrm>
          <a:custGeom>
            <a:avLst/>
            <a:gdLst/>
            <a:ahLst/>
            <a:cxnLst/>
            <a:rect l="l" t="t" r="r" b="b"/>
            <a:pathLst>
              <a:path w="1104559" h="919545">
                <a:moveTo>
                  <a:pt x="0" y="0"/>
                </a:moveTo>
                <a:lnTo>
                  <a:pt x="1104559" y="0"/>
                </a:lnTo>
                <a:lnTo>
                  <a:pt x="1104559" y="919546"/>
                </a:lnTo>
                <a:lnTo>
                  <a:pt x="0" y="91954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725909" y="6141138"/>
            <a:ext cx="2045817" cy="2057400"/>
          </a:xfrm>
          <a:custGeom>
            <a:avLst/>
            <a:gdLst/>
            <a:ahLst/>
            <a:cxnLst/>
            <a:rect l="l" t="t" r="r" b="b"/>
            <a:pathLst>
              <a:path w="2045817" h="2057400">
                <a:moveTo>
                  <a:pt x="0" y="0"/>
                </a:moveTo>
                <a:lnTo>
                  <a:pt x="2045818" y="0"/>
                </a:lnTo>
                <a:lnTo>
                  <a:pt x="204581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713988" y="721327"/>
            <a:ext cx="2045817" cy="2057400"/>
          </a:xfrm>
          <a:custGeom>
            <a:avLst/>
            <a:gdLst/>
            <a:ahLst/>
            <a:cxnLst/>
            <a:rect l="l" t="t" r="r" b="b"/>
            <a:pathLst>
              <a:path w="2045817" h="2057400">
                <a:moveTo>
                  <a:pt x="0" y="0"/>
                </a:moveTo>
                <a:lnTo>
                  <a:pt x="2045817" y="0"/>
                </a:lnTo>
                <a:lnTo>
                  <a:pt x="204581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7215803" y="-491499"/>
            <a:ext cx="1928197" cy="1978560"/>
          </a:xfrm>
          <a:custGeom>
            <a:avLst/>
            <a:gdLst/>
            <a:ahLst/>
            <a:cxnLst/>
            <a:rect l="l" t="t" r="r" b="b"/>
            <a:pathLst>
              <a:path w="1928197" h="1978560">
                <a:moveTo>
                  <a:pt x="0" y="0"/>
                </a:moveTo>
                <a:lnTo>
                  <a:pt x="1928197" y="0"/>
                </a:lnTo>
                <a:lnTo>
                  <a:pt x="1928197" y="1978560"/>
                </a:lnTo>
                <a:lnTo>
                  <a:pt x="0" y="197856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437123" y="9258300"/>
            <a:ext cx="1900973" cy="1950626"/>
          </a:xfrm>
          <a:custGeom>
            <a:avLst/>
            <a:gdLst/>
            <a:ahLst/>
            <a:cxnLst/>
            <a:rect l="l" t="t" r="r" b="b"/>
            <a:pathLst>
              <a:path w="1900973" h="1950626">
                <a:moveTo>
                  <a:pt x="0" y="0"/>
                </a:moveTo>
                <a:lnTo>
                  <a:pt x="1900973" y="0"/>
                </a:lnTo>
                <a:lnTo>
                  <a:pt x="1900973" y="1950626"/>
                </a:lnTo>
                <a:lnTo>
                  <a:pt x="0" y="195062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31829" y="4944754"/>
            <a:ext cx="8879957" cy="1859271"/>
          </a:xfrm>
          <a:custGeom>
            <a:avLst/>
            <a:gdLst/>
            <a:ahLst/>
            <a:cxnLst/>
            <a:rect l="l" t="t" r="r" b="b"/>
            <a:pathLst>
              <a:path w="8879957" h="1859271">
                <a:moveTo>
                  <a:pt x="0" y="0"/>
                </a:moveTo>
                <a:lnTo>
                  <a:pt x="8879957" y="0"/>
                </a:lnTo>
                <a:lnTo>
                  <a:pt x="8879957" y="1859271"/>
                </a:lnTo>
                <a:lnTo>
                  <a:pt x="0" y="185927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=""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5838825" y="1869090"/>
            <a:ext cx="281340" cy="281340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0" y="1750027"/>
            <a:ext cx="11242198" cy="33239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ar-SA" sz="3600" b="1" dirty="0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جامعة صبراتة </a:t>
            </a:r>
          </a:p>
          <a:p>
            <a:pPr algn="ctr">
              <a:lnSpc>
                <a:spcPct val="150000"/>
              </a:lnSpc>
            </a:pPr>
            <a:r>
              <a:rPr lang="ar-SA" sz="3600" b="1" dirty="0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كلية تقنية المعلومات الجميل </a:t>
            </a:r>
          </a:p>
          <a:p>
            <a:pPr algn="ctr">
              <a:lnSpc>
                <a:spcPct val="150000"/>
              </a:lnSpc>
            </a:pPr>
            <a:r>
              <a:rPr lang="ar-SA" sz="3600" b="1" dirty="0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قسم : هندسة البرمجيات </a:t>
            </a:r>
          </a:p>
          <a:p>
            <a:pPr algn="ctr">
              <a:lnSpc>
                <a:spcPct val="150000"/>
              </a:lnSpc>
            </a:pPr>
            <a:endParaRPr lang="en-US" sz="3600" b="1" dirty="0">
              <a:solidFill>
                <a:srgbClr val="46222E"/>
              </a:solidFill>
              <a:latin typeface="Calibri" pitchFamily="34" charset="0"/>
              <a:ea typeface="Wellfleet"/>
              <a:cs typeface="Calibri" pitchFamily="34" charset="0"/>
              <a:sym typeface="Wellfleet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815623" y="5074014"/>
            <a:ext cx="7799322" cy="1359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637"/>
              </a:lnSpc>
            </a:pPr>
            <a:r>
              <a:rPr lang="ar-SA" sz="4400" b="1" dirty="0" smtClean="0">
                <a:solidFill>
                  <a:srgbClr val="FFF6E7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نظام إدارة المكتبة الذكي</a:t>
            </a:r>
            <a:endParaRPr lang="en-US" sz="4400" b="1" dirty="0">
              <a:solidFill>
                <a:srgbClr val="FFF6E7"/>
              </a:solidFill>
              <a:latin typeface="Calibri" pitchFamily="34" charset="0"/>
              <a:ea typeface="Wellfleet"/>
              <a:cs typeface="Calibri" pitchFamily="34" charset="0"/>
              <a:sym typeface="Wellfleet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527972" y="7376807"/>
            <a:ext cx="8374624" cy="723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11"/>
              </a:lnSpc>
            </a:pPr>
            <a:r>
              <a:rPr lang="ar-SA" sz="3200" b="1" dirty="0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خلود الطاهر عبيد . </a:t>
            </a:r>
            <a:endParaRPr lang="en-US" sz="3200" b="1" dirty="0">
              <a:solidFill>
                <a:srgbClr val="46222E"/>
              </a:solidFill>
              <a:latin typeface="Calibri" pitchFamily="34" charset="0"/>
              <a:ea typeface="Wellfleet"/>
              <a:cs typeface="Calibri" pitchFamily="34" charset="0"/>
              <a:sym typeface="Wellfleet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9614945" y="9058099"/>
            <a:ext cx="400402" cy="40040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7500816" y="5649638"/>
            <a:ext cx="248002" cy="24800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7" name="TextBox 19"/>
          <p:cNvSpPr txBox="1"/>
          <p:nvPr/>
        </p:nvSpPr>
        <p:spPr>
          <a:xfrm>
            <a:off x="1677889" y="7934394"/>
            <a:ext cx="8374624" cy="723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11"/>
              </a:lnSpc>
            </a:pPr>
            <a:r>
              <a:rPr lang="ar-SA" sz="3200" b="1" dirty="0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رواسي رمضان </a:t>
            </a:r>
            <a:r>
              <a:rPr lang="ar-SA" sz="3200" b="1" dirty="0" err="1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المرناقي</a:t>
            </a:r>
            <a:r>
              <a:rPr lang="ar-SA" sz="3200" b="1" dirty="0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 .</a:t>
            </a:r>
            <a:endParaRPr lang="en-US" sz="3200" b="1" dirty="0">
              <a:solidFill>
                <a:srgbClr val="46222E"/>
              </a:solidFill>
              <a:latin typeface="Calibri" pitchFamily="34" charset="0"/>
              <a:ea typeface="Wellfleet"/>
              <a:cs typeface="Calibri" pitchFamily="34" charset="0"/>
              <a:sym typeface="Wellfleet"/>
            </a:endParaRPr>
          </a:p>
        </p:txBody>
      </p:sp>
      <p:pic>
        <p:nvPicPr>
          <p:cNvPr id="28" name="صورة 27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6314" y="1029603"/>
            <a:ext cx="1678973" cy="167897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29" name="صورة 28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955977"/>
            <a:ext cx="1752599" cy="175259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597551" y="-5638914"/>
            <a:ext cx="10348352" cy="8767876"/>
          </a:xfrm>
          <a:custGeom>
            <a:avLst/>
            <a:gdLst/>
            <a:ahLst/>
            <a:cxnLst/>
            <a:rect l="l" t="t" r="r" b="b"/>
            <a:pathLst>
              <a:path w="10348352" h="8767876">
                <a:moveTo>
                  <a:pt x="0" y="0"/>
                </a:moveTo>
                <a:lnTo>
                  <a:pt x="10348351" y="0"/>
                </a:lnTo>
                <a:lnTo>
                  <a:pt x="10348351" y="8767876"/>
                </a:lnTo>
                <a:lnTo>
                  <a:pt x="0" y="87678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3037862" y="7634174"/>
            <a:ext cx="10348352" cy="8767876"/>
          </a:xfrm>
          <a:custGeom>
            <a:avLst/>
            <a:gdLst/>
            <a:ahLst/>
            <a:cxnLst/>
            <a:rect l="l" t="t" r="r" b="b"/>
            <a:pathLst>
              <a:path w="10348352" h="8767876">
                <a:moveTo>
                  <a:pt x="10348352" y="0"/>
                </a:moveTo>
                <a:lnTo>
                  <a:pt x="0" y="0"/>
                </a:lnTo>
                <a:lnTo>
                  <a:pt x="0" y="8767876"/>
                </a:lnTo>
                <a:lnTo>
                  <a:pt x="10348352" y="8767876"/>
                </a:lnTo>
                <a:lnTo>
                  <a:pt x="1034835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713988" y="8872538"/>
            <a:ext cx="5700605" cy="4114800"/>
          </a:xfrm>
          <a:custGeom>
            <a:avLst/>
            <a:gdLst/>
            <a:ahLst/>
            <a:cxnLst/>
            <a:rect l="l" t="t" r="r" b="b"/>
            <a:pathLst>
              <a:path w="5700605" h="4114800">
                <a:moveTo>
                  <a:pt x="0" y="0"/>
                </a:moveTo>
                <a:lnTo>
                  <a:pt x="5700604" y="0"/>
                </a:lnTo>
                <a:lnTo>
                  <a:pt x="57006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437698" y="-1905000"/>
            <a:ext cx="5700605" cy="4114800"/>
          </a:xfrm>
          <a:custGeom>
            <a:avLst/>
            <a:gdLst/>
            <a:ahLst/>
            <a:cxnLst/>
            <a:rect l="l" t="t" r="r" b="b"/>
            <a:pathLst>
              <a:path w="5700605" h="4114800">
                <a:moveTo>
                  <a:pt x="0" y="0"/>
                </a:moveTo>
                <a:lnTo>
                  <a:pt x="5700604" y="0"/>
                </a:lnTo>
                <a:lnTo>
                  <a:pt x="57006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979756" y="830482"/>
            <a:ext cx="1104559" cy="919545"/>
          </a:xfrm>
          <a:custGeom>
            <a:avLst/>
            <a:gdLst/>
            <a:ahLst/>
            <a:cxnLst/>
            <a:rect l="l" t="t" r="r" b="b"/>
            <a:pathLst>
              <a:path w="1104559" h="919545">
                <a:moveTo>
                  <a:pt x="0" y="0"/>
                </a:moveTo>
                <a:lnTo>
                  <a:pt x="1104559" y="0"/>
                </a:lnTo>
                <a:lnTo>
                  <a:pt x="1104559" y="919545"/>
                </a:lnTo>
                <a:lnTo>
                  <a:pt x="0" y="9195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918843" y="568927"/>
            <a:ext cx="1104559" cy="919545"/>
          </a:xfrm>
          <a:custGeom>
            <a:avLst/>
            <a:gdLst/>
            <a:ahLst/>
            <a:cxnLst/>
            <a:rect l="l" t="t" r="r" b="b"/>
            <a:pathLst>
              <a:path w="1104559" h="919545">
                <a:moveTo>
                  <a:pt x="0" y="0"/>
                </a:moveTo>
                <a:lnTo>
                  <a:pt x="1104559" y="0"/>
                </a:lnTo>
                <a:lnTo>
                  <a:pt x="1104559" y="919546"/>
                </a:lnTo>
                <a:lnTo>
                  <a:pt x="0" y="9195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725909" y="6737985"/>
            <a:ext cx="2045817" cy="2057400"/>
          </a:xfrm>
          <a:custGeom>
            <a:avLst/>
            <a:gdLst/>
            <a:ahLst/>
            <a:cxnLst/>
            <a:rect l="l" t="t" r="r" b="b"/>
            <a:pathLst>
              <a:path w="2045817" h="2057400">
                <a:moveTo>
                  <a:pt x="0" y="0"/>
                </a:moveTo>
                <a:lnTo>
                  <a:pt x="2045818" y="0"/>
                </a:lnTo>
                <a:lnTo>
                  <a:pt x="204581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475761" y="261555"/>
            <a:ext cx="2045817" cy="2057400"/>
          </a:xfrm>
          <a:custGeom>
            <a:avLst/>
            <a:gdLst/>
            <a:ahLst/>
            <a:cxnLst/>
            <a:rect l="l" t="t" r="r" b="b"/>
            <a:pathLst>
              <a:path w="2045817" h="2057400">
                <a:moveTo>
                  <a:pt x="0" y="0"/>
                </a:moveTo>
                <a:lnTo>
                  <a:pt x="2045817" y="0"/>
                </a:lnTo>
                <a:lnTo>
                  <a:pt x="204581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1208951" y="2520315"/>
            <a:ext cx="5246370" cy="524637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162" y="0"/>
                  </a:moveTo>
                  <a:lnTo>
                    <a:pt x="731638" y="0"/>
                  </a:lnTo>
                  <a:cubicBezTo>
                    <a:pt x="776463" y="0"/>
                    <a:pt x="812800" y="36337"/>
                    <a:pt x="812800" y="81162"/>
                  </a:cubicBezTo>
                  <a:lnTo>
                    <a:pt x="812800" y="731638"/>
                  </a:lnTo>
                  <a:cubicBezTo>
                    <a:pt x="812800" y="776463"/>
                    <a:pt x="776463" y="812800"/>
                    <a:pt x="731638" y="812800"/>
                  </a:cubicBezTo>
                  <a:lnTo>
                    <a:pt x="81162" y="812800"/>
                  </a:lnTo>
                  <a:cubicBezTo>
                    <a:pt x="36337" y="812800"/>
                    <a:pt x="0" y="776463"/>
                    <a:pt x="0" y="731638"/>
                  </a:cubicBezTo>
                  <a:lnTo>
                    <a:pt x="0" y="81162"/>
                  </a:lnTo>
                  <a:cubicBezTo>
                    <a:pt x="0" y="36337"/>
                    <a:pt x="36337" y="0"/>
                    <a:pt x="81162" y="0"/>
                  </a:cubicBezTo>
                  <a:close/>
                </a:path>
              </a:pathLst>
            </a:custGeom>
            <a:blipFill>
              <a:blip r:embed="rId10"/>
              <a:stretch>
                <a:fillRect l="-24906" r="-24906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5848580" y="9136856"/>
            <a:ext cx="3443288" cy="966788"/>
            <a:chOff x="0" y="0"/>
            <a:chExt cx="906874" cy="25462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06874" cy="254627"/>
            </a:xfrm>
            <a:custGeom>
              <a:avLst/>
              <a:gdLst/>
              <a:ahLst/>
              <a:cxnLst/>
              <a:rect l="l" t="t" r="r" b="b"/>
              <a:pathLst>
                <a:path w="906874" h="254627">
                  <a:moveTo>
                    <a:pt x="127314" y="0"/>
                  </a:moveTo>
                  <a:lnTo>
                    <a:pt x="779561" y="0"/>
                  </a:lnTo>
                  <a:cubicBezTo>
                    <a:pt x="813326" y="0"/>
                    <a:pt x="845709" y="13413"/>
                    <a:pt x="869585" y="37289"/>
                  </a:cubicBezTo>
                  <a:cubicBezTo>
                    <a:pt x="893461" y="61165"/>
                    <a:pt x="906874" y="93548"/>
                    <a:pt x="906874" y="127314"/>
                  </a:cubicBezTo>
                  <a:lnTo>
                    <a:pt x="906874" y="127314"/>
                  </a:lnTo>
                  <a:cubicBezTo>
                    <a:pt x="906874" y="197627"/>
                    <a:pt x="849874" y="254627"/>
                    <a:pt x="779561" y="254627"/>
                  </a:cubicBezTo>
                  <a:lnTo>
                    <a:pt x="127314" y="254627"/>
                  </a:lnTo>
                  <a:cubicBezTo>
                    <a:pt x="93548" y="254627"/>
                    <a:pt x="61165" y="241214"/>
                    <a:pt x="37289" y="217338"/>
                  </a:cubicBezTo>
                  <a:cubicBezTo>
                    <a:pt x="13413" y="193462"/>
                    <a:pt x="0" y="161079"/>
                    <a:pt x="0" y="127314"/>
                  </a:cubicBezTo>
                  <a:lnTo>
                    <a:pt x="0" y="127314"/>
                  </a:lnTo>
                  <a:cubicBezTo>
                    <a:pt x="0" y="93548"/>
                    <a:pt x="13413" y="61165"/>
                    <a:pt x="37289" y="37289"/>
                  </a:cubicBezTo>
                  <a:cubicBezTo>
                    <a:pt x="61165" y="13413"/>
                    <a:pt x="93548" y="0"/>
                    <a:pt x="127314" y="0"/>
                  </a:cubicBezTo>
                  <a:close/>
                </a:path>
              </a:pathLst>
            </a:custGeom>
            <a:solidFill>
              <a:srgbClr val="D2BAA4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906874" cy="2927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5773051" y="8604837"/>
            <a:ext cx="1036953" cy="1064038"/>
          </a:xfrm>
          <a:custGeom>
            <a:avLst/>
            <a:gdLst/>
            <a:ahLst/>
            <a:cxnLst/>
            <a:rect l="l" t="t" r="r" b="b"/>
            <a:pathLst>
              <a:path w="1036953" h="1064038">
                <a:moveTo>
                  <a:pt x="0" y="0"/>
                </a:moveTo>
                <a:lnTo>
                  <a:pt x="1036953" y="0"/>
                </a:lnTo>
                <a:lnTo>
                  <a:pt x="1036953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002325" y="2582992"/>
            <a:ext cx="8917697" cy="1299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770"/>
              </a:lnSpc>
            </a:pPr>
            <a:r>
              <a:rPr lang="ar-SA" sz="7693" b="1" dirty="0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مقدمة :</a:t>
            </a:r>
            <a:endParaRPr lang="en-US" sz="7693" b="1" dirty="0">
              <a:solidFill>
                <a:srgbClr val="46222E"/>
              </a:solidFill>
              <a:latin typeface="Calibri" pitchFamily="34" charset="0"/>
              <a:ea typeface="Wellfleet"/>
              <a:cs typeface="Calibri" pitchFamily="34" charset="0"/>
              <a:sym typeface="Wellfleet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320068" y="4685506"/>
            <a:ext cx="8703385" cy="2878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lang="ar-SA" sz="32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نظام إدارة المكتبة هو نظام برمجي يهدف إلى تنظيم وإدارة الكتب وعمليات الاستعارة والإرجاع داخل المكتبة.</a:t>
            </a:r>
          </a:p>
          <a:p>
            <a:pPr algn="r">
              <a:lnSpc>
                <a:spcPct val="150000"/>
              </a:lnSpc>
            </a:pPr>
            <a:r>
              <a:rPr lang="ar-SA" sz="32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يساعد النظام في تقليل الأخطاء، تسهيل الوصول إلى البيانات، وتحسين كفاءة </a:t>
            </a:r>
            <a:r>
              <a:rPr lang="ar-SA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العمل</a:t>
            </a:r>
            <a:r>
              <a:rPr lang="ar-SA" sz="32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 مقارنة بالإدارة اليدوية.</a:t>
            </a:r>
            <a:endParaRPr lang="en-US" sz="3200" b="1" dirty="0">
              <a:solidFill>
                <a:srgbClr val="46222E"/>
              </a:solidFill>
              <a:latin typeface="Calibri" pitchFamily="34" charset="0"/>
              <a:ea typeface="Carollo Playscript"/>
              <a:cs typeface="Calibri" pitchFamily="34" charset="0"/>
              <a:sym typeface="Carollo Playscript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6478979" y="9259961"/>
            <a:ext cx="780321" cy="653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33"/>
              </a:lnSpc>
            </a:pPr>
            <a:r>
              <a:rPr lang="en-US" sz="3880">
                <a:solidFill>
                  <a:srgbClr val="46222E"/>
                </a:solidFill>
                <a:latin typeface="Wellfleet"/>
                <a:ea typeface="Wellfleet"/>
                <a:cs typeface="Wellfleet"/>
                <a:sym typeface="Wellfleet"/>
              </a:rPr>
              <a:t>01</a:t>
            </a:r>
          </a:p>
        </p:txBody>
      </p:sp>
      <p:sp>
        <p:nvSpPr>
          <p:cNvPr id="19" name="Freeform 19"/>
          <p:cNvSpPr/>
          <p:nvPr/>
        </p:nvSpPr>
        <p:spPr>
          <a:xfrm>
            <a:off x="16912521" y="1988296"/>
            <a:ext cx="1036953" cy="1064038"/>
          </a:xfrm>
          <a:custGeom>
            <a:avLst/>
            <a:gdLst/>
            <a:ahLst/>
            <a:cxnLst/>
            <a:rect l="l" t="t" r="r" b="b"/>
            <a:pathLst>
              <a:path w="1036953" h="1064038">
                <a:moveTo>
                  <a:pt x="0" y="0"/>
                </a:moveTo>
                <a:lnTo>
                  <a:pt x="1036953" y="0"/>
                </a:lnTo>
                <a:lnTo>
                  <a:pt x="1036953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510223" y="1986915"/>
            <a:ext cx="1036953" cy="1064038"/>
          </a:xfrm>
          <a:custGeom>
            <a:avLst/>
            <a:gdLst/>
            <a:ahLst/>
            <a:cxnLst/>
            <a:rect l="l" t="t" r="r" b="b"/>
            <a:pathLst>
              <a:path w="1036953" h="1064038">
                <a:moveTo>
                  <a:pt x="0" y="0"/>
                </a:moveTo>
                <a:lnTo>
                  <a:pt x="1036954" y="0"/>
                </a:lnTo>
                <a:lnTo>
                  <a:pt x="1036954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21" name="Group 21"/>
          <p:cNvGrpSpPr/>
          <p:nvPr/>
        </p:nvGrpSpPr>
        <p:grpSpPr>
          <a:xfrm>
            <a:off x="9614945" y="9058099"/>
            <a:ext cx="400402" cy="400402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7500816" y="5649638"/>
            <a:ext cx="248002" cy="248002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47360" y="5869717"/>
            <a:ext cx="281340" cy="281340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597551" y="-5638914"/>
            <a:ext cx="10348352" cy="8767876"/>
          </a:xfrm>
          <a:custGeom>
            <a:avLst/>
            <a:gdLst/>
            <a:ahLst/>
            <a:cxnLst/>
            <a:rect l="l" t="t" r="r" b="b"/>
            <a:pathLst>
              <a:path w="10348352" h="8767876">
                <a:moveTo>
                  <a:pt x="0" y="0"/>
                </a:moveTo>
                <a:lnTo>
                  <a:pt x="10348351" y="0"/>
                </a:lnTo>
                <a:lnTo>
                  <a:pt x="10348351" y="8767876"/>
                </a:lnTo>
                <a:lnTo>
                  <a:pt x="0" y="87678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3037862" y="7634174"/>
            <a:ext cx="10348352" cy="8767876"/>
          </a:xfrm>
          <a:custGeom>
            <a:avLst/>
            <a:gdLst/>
            <a:ahLst/>
            <a:cxnLst/>
            <a:rect l="l" t="t" r="r" b="b"/>
            <a:pathLst>
              <a:path w="10348352" h="8767876">
                <a:moveTo>
                  <a:pt x="10348352" y="0"/>
                </a:moveTo>
                <a:lnTo>
                  <a:pt x="0" y="0"/>
                </a:lnTo>
                <a:lnTo>
                  <a:pt x="0" y="8767876"/>
                </a:lnTo>
                <a:lnTo>
                  <a:pt x="10348352" y="8767876"/>
                </a:lnTo>
                <a:lnTo>
                  <a:pt x="1034835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713988" y="8872538"/>
            <a:ext cx="5700605" cy="4114800"/>
          </a:xfrm>
          <a:custGeom>
            <a:avLst/>
            <a:gdLst/>
            <a:ahLst/>
            <a:cxnLst/>
            <a:rect l="l" t="t" r="r" b="b"/>
            <a:pathLst>
              <a:path w="5700605" h="4114800">
                <a:moveTo>
                  <a:pt x="0" y="0"/>
                </a:moveTo>
                <a:lnTo>
                  <a:pt x="5700604" y="0"/>
                </a:lnTo>
                <a:lnTo>
                  <a:pt x="57006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437698" y="-1905000"/>
            <a:ext cx="5700605" cy="4114800"/>
          </a:xfrm>
          <a:custGeom>
            <a:avLst/>
            <a:gdLst/>
            <a:ahLst/>
            <a:cxnLst/>
            <a:rect l="l" t="t" r="r" b="b"/>
            <a:pathLst>
              <a:path w="5700605" h="4114800">
                <a:moveTo>
                  <a:pt x="0" y="0"/>
                </a:moveTo>
                <a:lnTo>
                  <a:pt x="5700604" y="0"/>
                </a:lnTo>
                <a:lnTo>
                  <a:pt x="57006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979756" y="830482"/>
            <a:ext cx="1104559" cy="919545"/>
          </a:xfrm>
          <a:custGeom>
            <a:avLst/>
            <a:gdLst/>
            <a:ahLst/>
            <a:cxnLst/>
            <a:rect l="l" t="t" r="r" b="b"/>
            <a:pathLst>
              <a:path w="1104559" h="919545">
                <a:moveTo>
                  <a:pt x="0" y="0"/>
                </a:moveTo>
                <a:lnTo>
                  <a:pt x="1104559" y="0"/>
                </a:lnTo>
                <a:lnTo>
                  <a:pt x="1104559" y="919545"/>
                </a:lnTo>
                <a:lnTo>
                  <a:pt x="0" y="9195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918843" y="568927"/>
            <a:ext cx="1104559" cy="919545"/>
          </a:xfrm>
          <a:custGeom>
            <a:avLst/>
            <a:gdLst/>
            <a:ahLst/>
            <a:cxnLst/>
            <a:rect l="l" t="t" r="r" b="b"/>
            <a:pathLst>
              <a:path w="1104559" h="919545">
                <a:moveTo>
                  <a:pt x="0" y="0"/>
                </a:moveTo>
                <a:lnTo>
                  <a:pt x="1104559" y="0"/>
                </a:lnTo>
                <a:lnTo>
                  <a:pt x="1104559" y="919546"/>
                </a:lnTo>
                <a:lnTo>
                  <a:pt x="0" y="9195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725909" y="6737985"/>
            <a:ext cx="2045817" cy="2057400"/>
          </a:xfrm>
          <a:custGeom>
            <a:avLst/>
            <a:gdLst/>
            <a:ahLst/>
            <a:cxnLst/>
            <a:rect l="l" t="t" r="r" b="b"/>
            <a:pathLst>
              <a:path w="2045817" h="2057400">
                <a:moveTo>
                  <a:pt x="0" y="0"/>
                </a:moveTo>
                <a:lnTo>
                  <a:pt x="2045818" y="0"/>
                </a:lnTo>
                <a:lnTo>
                  <a:pt x="204581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475761" y="261555"/>
            <a:ext cx="2045817" cy="2057400"/>
          </a:xfrm>
          <a:custGeom>
            <a:avLst/>
            <a:gdLst/>
            <a:ahLst/>
            <a:cxnLst/>
            <a:rect l="l" t="t" r="r" b="b"/>
            <a:pathLst>
              <a:path w="2045817" h="2057400">
                <a:moveTo>
                  <a:pt x="0" y="0"/>
                </a:moveTo>
                <a:lnTo>
                  <a:pt x="2045817" y="0"/>
                </a:lnTo>
                <a:lnTo>
                  <a:pt x="204581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5848580" y="9136856"/>
            <a:ext cx="3443288" cy="966788"/>
            <a:chOff x="0" y="0"/>
            <a:chExt cx="906874" cy="25462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06874" cy="254627"/>
            </a:xfrm>
            <a:custGeom>
              <a:avLst/>
              <a:gdLst/>
              <a:ahLst/>
              <a:cxnLst/>
              <a:rect l="l" t="t" r="r" b="b"/>
              <a:pathLst>
                <a:path w="906874" h="254627">
                  <a:moveTo>
                    <a:pt x="127314" y="0"/>
                  </a:moveTo>
                  <a:lnTo>
                    <a:pt x="779561" y="0"/>
                  </a:lnTo>
                  <a:cubicBezTo>
                    <a:pt x="813326" y="0"/>
                    <a:pt x="845709" y="13413"/>
                    <a:pt x="869585" y="37289"/>
                  </a:cubicBezTo>
                  <a:cubicBezTo>
                    <a:pt x="893461" y="61165"/>
                    <a:pt x="906874" y="93548"/>
                    <a:pt x="906874" y="127314"/>
                  </a:cubicBezTo>
                  <a:lnTo>
                    <a:pt x="906874" y="127314"/>
                  </a:lnTo>
                  <a:cubicBezTo>
                    <a:pt x="906874" y="197627"/>
                    <a:pt x="849874" y="254627"/>
                    <a:pt x="779561" y="254627"/>
                  </a:cubicBezTo>
                  <a:lnTo>
                    <a:pt x="127314" y="254627"/>
                  </a:lnTo>
                  <a:cubicBezTo>
                    <a:pt x="93548" y="254627"/>
                    <a:pt x="61165" y="241214"/>
                    <a:pt x="37289" y="217338"/>
                  </a:cubicBezTo>
                  <a:cubicBezTo>
                    <a:pt x="13413" y="193462"/>
                    <a:pt x="0" y="161079"/>
                    <a:pt x="0" y="127314"/>
                  </a:cubicBezTo>
                  <a:lnTo>
                    <a:pt x="0" y="127314"/>
                  </a:lnTo>
                  <a:cubicBezTo>
                    <a:pt x="0" y="93548"/>
                    <a:pt x="13413" y="61165"/>
                    <a:pt x="37289" y="37289"/>
                  </a:cubicBezTo>
                  <a:cubicBezTo>
                    <a:pt x="61165" y="13413"/>
                    <a:pt x="93548" y="0"/>
                    <a:pt x="127314" y="0"/>
                  </a:cubicBezTo>
                  <a:close/>
                </a:path>
              </a:pathLst>
            </a:custGeom>
            <a:solidFill>
              <a:srgbClr val="D2BAA4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906874" cy="2927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6478979" y="9259961"/>
            <a:ext cx="780321" cy="653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33"/>
              </a:lnSpc>
            </a:pPr>
            <a:r>
              <a:rPr lang="en-US" sz="3880">
                <a:solidFill>
                  <a:srgbClr val="46222E"/>
                </a:solidFill>
                <a:latin typeface="Wellfleet"/>
                <a:ea typeface="Wellfleet"/>
                <a:cs typeface="Wellfleet"/>
                <a:sym typeface="Wellfleet"/>
              </a:rPr>
              <a:t>02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518961" y="2236313"/>
            <a:ext cx="8917697" cy="1299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70"/>
              </a:lnSpc>
            </a:pPr>
            <a:r>
              <a:rPr lang="ar-SA" sz="7693" b="1" dirty="0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أهداف المشروع : </a:t>
            </a:r>
            <a:endParaRPr lang="en-US" sz="7693" b="1" dirty="0">
              <a:solidFill>
                <a:srgbClr val="46222E"/>
              </a:solidFill>
              <a:latin typeface="Calibri" pitchFamily="34" charset="0"/>
              <a:ea typeface="Wellfleet"/>
              <a:cs typeface="Calibri" pitchFamily="34" charset="0"/>
              <a:sym typeface="Wellfleet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640080" y="4492577"/>
            <a:ext cx="6557526" cy="6623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ar-SA" sz="3200" b="1" dirty="0" smtClean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تنظيم </a:t>
            </a:r>
            <a:r>
              <a:rPr lang="ar-SA" sz="32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بيانات الكتب </a:t>
            </a:r>
            <a:r>
              <a:rPr lang="ar-SA" sz="3200" b="1" dirty="0" smtClean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والأقسام</a:t>
            </a:r>
            <a:endParaRPr lang="ar-SA" sz="3200" b="1" dirty="0">
              <a:solidFill>
                <a:srgbClr val="46222E"/>
              </a:solidFill>
              <a:latin typeface="Calibri" pitchFamily="34" charset="0"/>
              <a:ea typeface="Carollo Playscript"/>
              <a:cs typeface="Calibri" pitchFamily="34" charset="0"/>
              <a:sym typeface="Carollo Playscript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5773051" y="8604837"/>
            <a:ext cx="1036953" cy="1064038"/>
          </a:xfrm>
          <a:custGeom>
            <a:avLst/>
            <a:gdLst/>
            <a:ahLst/>
            <a:cxnLst/>
            <a:rect l="l" t="t" r="r" b="b"/>
            <a:pathLst>
              <a:path w="1036953" h="1064038">
                <a:moveTo>
                  <a:pt x="0" y="0"/>
                </a:moveTo>
                <a:lnTo>
                  <a:pt x="1036953" y="0"/>
                </a:lnTo>
                <a:lnTo>
                  <a:pt x="1036953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6912521" y="1988296"/>
            <a:ext cx="1036953" cy="1064038"/>
          </a:xfrm>
          <a:custGeom>
            <a:avLst/>
            <a:gdLst/>
            <a:ahLst/>
            <a:cxnLst/>
            <a:rect l="l" t="t" r="r" b="b"/>
            <a:pathLst>
              <a:path w="1036953" h="1064038">
                <a:moveTo>
                  <a:pt x="0" y="0"/>
                </a:moveTo>
                <a:lnTo>
                  <a:pt x="1036953" y="0"/>
                </a:lnTo>
                <a:lnTo>
                  <a:pt x="1036953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510223" y="1986915"/>
            <a:ext cx="1036953" cy="1064038"/>
          </a:xfrm>
          <a:custGeom>
            <a:avLst/>
            <a:gdLst/>
            <a:ahLst/>
            <a:cxnLst/>
            <a:rect l="l" t="t" r="r" b="b"/>
            <a:pathLst>
              <a:path w="1036953" h="1064038">
                <a:moveTo>
                  <a:pt x="0" y="0"/>
                </a:moveTo>
                <a:lnTo>
                  <a:pt x="1036954" y="0"/>
                </a:lnTo>
                <a:lnTo>
                  <a:pt x="1036954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9614945" y="9058099"/>
            <a:ext cx="400402" cy="40040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7500816" y="5649638"/>
            <a:ext cx="248002" cy="24800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47360" y="5869717"/>
            <a:ext cx="281340" cy="281340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9" name="Freeform 13"/>
          <p:cNvSpPr/>
          <p:nvPr/>
        </p:nvSpPr>
        <p:spPr>
          <a:xfrm>
            <a:off x="1545555" y="3883270"/>
            <a:ext cx="3720313" cy="4241045"/>
          </a:xfrm>
          <a:custGeom>
            <a:avLst/>
            <a:gdLst/>
            <a:ahLst/>
            <a:cxnLst/>
            <a:rect l="l" t="t" r="r" b="b"/>
            <a:pathLst>
              <a:path w="4955736" h="5315219">
                <a:moveTo>
                  <a:pt x="0" y="0"/>
                </a:moveTo>
                <a:lnTo>
                  <a:pt x="4955736" y="0"/>
                </a:lnTo>
                <a:lnTo>
                  <a:pt x="4955736" y="5315219"/>
                </a:lnTo>
                <a:lnTo>
                  <a:pt x="0" y="531521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33" name="TextBox 16"/>
          <p:cNvSpPr txBox="1"/>
          <p:nvPr/>
        </p:nvSpPr>
        <p:spPr>
          <a:xfrm>
            <a:off x="7640080" y="5203876"/>
            <a:ext cx="6557526" cy="6623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ar-SA" sz="32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إدارة عمليات الاستعارة والإرجاع</a:t>
            </a:r>
          </a:p>
        </p:txBody>
      </p:sp>
      <p:sp>
        <p:nvSpPr>
          <p:cNvPr id="35" name="TextBox 16"/>
          <p:cNvSpPr txBox="1"/>
          <p:nvPr/>
        </p:nvSpPr>
        <p:spPr>
          <a:xfrm>
            <a:off x="7654177" y="5934393"/>
            <a:ext cx="6557526" cy="14010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ar-SA" sz="32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تطبيق مفاهيم البرمجة كائنية التوجه</a:t>
            </a:r>
            <a:br>
              <a:rPr lang="ar-SA" sz="32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</a:br>
            <a:endParaRPr lang="ar-SA" sz="3200" b="1" dirty="0">
              <a:solidFill>
                <a:srgbClr val="46222E"/>
              </a:solidFill>
              <a:latin typeface="Calibri" pitchFamily="34" charset="0"/>
              <a:ea typeface="Carollo Playscript"/>
              <a:cs typeface="Calibri" pitchFamily="34" charset="0"/>
              <a:sym typeface="Carollo Playscript"/>
            </a:endParaRPr>
          </a:p>
        </p:txBody>
      </p:sp>
      <p:sp>
        <p:nvSpPr>
          <p:cNvPr id="36" name="TextBox 16"/>
          <p:cNvSpPr txBox="1"/>
          <p:nvPr/>
        </p:nvSpPr>
        <p:spPr>
          <a:xfrm>
            <a:off x="7754380" y="6759388"/>
            <a:ext cx="6557526" cy="14010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ar-SA" sz="32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استخدام أنماط التصميم البرمجية</a:t>
            </a:r>
            <a:br>
              <a:rPr lang="ar-SA" sz="32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</a:br>
            <a:endParaRPr lang="ar-SA" sz="3200" b="1" dirty="0">
              <a:solidFill>
                <a:srgbClr val="46222E"/>
              </a:solidFill>
              <a:latin typeface="Calibri" pitchFamily="34" charset="0"/>
              <a:ea typeface="Carollo Playscript"/>
              <a:cs typeface="Calibri" pitchFamily="34" charset="0"/>
              <a:sym typeface="Carollo Playscript"/>
            </a:endParaRPr>
          </a:p>
        </p:txBody>
      </p:sp>
      <p:sp>
        <p:nvSpPr>
          <p:cNvPr id="37" name="TextBox 16"/>
          <p:cNvSpPr txBox="1"/>
          <p:nvPr/>
        </p:nvSpPr>
        <p:spPr>
          <a:xfrm>
            <a:off x="7754380" y="7570118"/>
            <a:ext cx="6557526" cy="14010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ar-SA" sz="32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تحسين جودة وتنظيم الكود</a:t>
            </a:r>
            <a:br>
              <a:rPr lang="ar-SA" sz="32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</a:br>
            <a:endParaRPr lang="ar-SA" sz="3200" b="1" dirty="0">
              <a:solidFill>
                <a:srgbClr val="46222E"/>
              </a:solidFill>
              <a:latin typeface="Calibri" pitchFamily="34" charset="0"/>
              <a:ea typeface="Carollo Playscript"/>
              <a:cs typeface="Calibri" pitchFamily="34" charset="0"/>
              <a:sym typeface="Carollo Playscript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33" grpId="0"/>
      <p:bldP spid="35" grpId="0"/>
      <p:bldP spid="36" grpId="0"/>
      <p:bldP spid="3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597551" y="-5638914"/>
            <a:ext cx="10348352" cy="8767876"/>
          </a:xfrm>
          <a:custGeom>
            <a:avLst/>
            <a:gdLst/>
            <a:ahLst/>
            <a:cxnLst/>
            <a:rect l="l" t="t" r="r" b="b"/>
            <a:pathLst>
              <a:path w="10348352" h="8767876">
                <a:moveTo>
                  <a:pt x="0" y="0"/>
                </a:moveTo>
                <a:lnTo>
                  <a:pt x="10348351" y="0"/>
                </a:lnTo>
                <a:lnTo>
                  <a:pt x="10348351" y="8767876"/>
                </a:lnTo>
                <a:lnTo>
                  <a:pt x="0" y="87678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3037862" y="7634174"/>
            <a:ext cx="10348352" cy="8767876"/>
          </a:xfrm>
          <a:custGeom>
            <a:avLst/>
            <a:gdLst/>
            <a:ahLst/>
            <a:cxnLst/>
            <a:rect l="l" t="t" r="r" b="b"/>
            <a:pathLst>
              <a:path w="10348352" h="8767876">
                <a:moveTo>
                  <a:pt x="10348352" y="0"/>
                </a:moveTo>
                <a:lnTo>
                  <a:pt x="0" y="0"/>
                </a:lnTo>
                <a:lnTo>
                  <a:pt x="0" y="8767876"/>
                </a:lnTo>
                <a:lnTo>
                  <a:pt x="10348352" y="8767876"/>
                </a:lnTo>
                <a:lnTo>
                  <a:pt x="1034835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713988" y="8872538"/>
            <a:ext cx="5700605" cy="4114800"/>
          </a:xfrm>
          <a:custGeom>
            <a:avLst/>
            <a:gdLst/>
            <a:ahLst/>
            <a:cxnLst/>
            <a:rect l="l" t="t" r="r" b="b"/>
            <a:pathLst>
              <a:path w="5700605" h="4114800">
                <a:moveTo>
                  <a:pt x="0" y="0"/>
                </a:moveTo>
                <a:lnTo>
                  <a:pt x="5700604" y="0"/>
                </a:lnTo>
                <a:lnTo>
                  <a:pt x="57006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437698" y="-1905000"/>
            <a:ext cx="5700605" cy="4114800"/>
          </a:xfrm>
          <a:custGeom>
            <a:avLst/>
            <a:gdLst/>
            <a:ahLst/>
            <a:cxnLst/>
            <a:rect l="l" t="t" r="r" b="b"/>
            <a:pathLst>
              <a:path w="5700605" h="4114800">
                <a:moveTo>
                  <a:pt x="0" y="0"/>
                </a:moveTo>
                <a:lnTo>
                  <a:pt x="5700604" y="0"/>
                </a:lnTo>
                <a:lnTo>
                  <a:pt x="57006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979756" y="830482"/>
            <a:ext cx="1104559" cy="919545"/>
          </a:xfrm>
          <a:custGeom>
            <a:avLst/>
            <a:gdLst/>
            <a:ahLst/>
            <a:cxnLst/>
            <a:rect l="l" t="t" r="r" b="b"/>
            <a:pathLst>
              <a:path w="1104559" h="919545">
                <a:moveTo>
                  <a:pt x="0" y="0"/>
                </a:moveTo>
                <a:lnTo>
                  <a:pt x="1104559" y="0"/>
                </a:lnTo>
                <a:lnTo>
                  <a:pt x="1104559" y="919545"/>
                </a:lnTo>
                <a:lnTo>
                  <a:pt x="0" y="9195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918843" y="568927"/>
            <a:ext cx="1104559" cy="919545"/>
          </a:xfrm>
          <a:custGeom>
            <a:avLst/>
            <a:gdLst/>
            <a:ahLst/>
            <a:cxnLst/>
            <a:rect l="l" t="t" r="r" b="b"/>
            <a:pathLst>
              <a:path w="1104559" h="919545">
                <a:moveTo>
                  <a:pt x="0" y="0"/>
                </a:moveTo>
                <a:lnTo>
                  <a:pt x="1104559" y="0"/>
                </a:lnTo>
                <a:lnTo>
                  <a:pt x="1104559" y="919546"/>
                </a:lnTo>
                <a:lnTo>
                  <a:pt x="0" y="9195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725909" y="6737985"/>
            <a:ext cx="2045817" cy="2057400"/>
          </a:xfrm>
          <a:custGeom>
            <a:avLst/>
            <a:gdLst/>
            <a:ahLst/>
            <a:cxnLst/>
            <a:rect l="l" t="t" r="r" b="b"/>
            <a:pathLst>
              <a:path w="2045817" h="2057400">
                <a:moveTo>
                  <a:pt x="0" y="0"/>
                </a:moveTo>
                <a:lnTo>
                  <a:pt x="2045818" y="0"/>
                </a:lnTo>
                <a:lnTo>
                  <a:pt x="204581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475761" y="261555"/>
            <a:ext cx="2045817" cy="2057400"/>
          </a:xfrm>
          <a:custGeom>
            <a:avLst/>
            <a:gdLst/>
            <a:ahLst/>
            <a:cxnLst/>
            <a:rect l="l" t="t" r="r" b="b"/>
            <a:pathLst>
              <a:path w="2045817" h="2057400">
                <a:moveTo>
                  <a:pt x="0" y="0"/>
                </a:moveTo>
                <a:lnTo>
                  <a:pt x="2045817" y="0"/>
                </a:lnTo>
                <a:lnTo>
                  <a:pt x="204581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5848580" y="9136856"/>
            <a:ext cx="3443288" cy="966788"/>
            <a:chOff x="0" y="0"/>
            <a:chExt cx="906874" cy="25462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06874" cy="254627"/>
            </a:xfrm>
            <a:custGeom>
              <a:avLst/>
              <a:gdLst/>
              <a:ahLst/>
              <a:cxnLst/>
              <a:rect l="l" t="t" r="r" b="b"/>
              <a:pathLst>
                <a:path w="906874" h="254627">
                  <a:moveTo>
                    <a:pt x="127314" y="0"/>
                  </a:moveTo>
                  <a:lnTo>
                    <a:pt x="779561" y="0"/>
                  </a:lnTo>
                  <a:cubicBezTo>
                    <a:pt x="813326" y="0"/>
                    <a:pt x="845709" y="13413"/>
                    <a:pt x="869585" y="37289"/>
                  </a:cubicBezTo>
                  <a:cubicBezTo>
                    <a:pt x="893461" y="61165"/>
                    <a:pt x="906874" y="93548"/>
                    <a:pt x="906874" y="127314"/>
                  </a:cubicBezTo>
                  <a:lnTo>
                    <a:pt x="906874" y="127314"/>
                  </a:lnTo>
                  <a:cubicBezTo>
                    <a:pt x="906874" y="197627"/>
                    <a:pt x="849874" y="254627"/>
                    <a:pt x="779561" y="254627"/>
                  </a:cubicBezTo>
                  <a:lnTo>
                    <a:pt x="127314" y="254627"/>
                  </a:lnTo>
                  <a:cubicBezTo>
                    <a:pt x="93548" y="254627"/>
                    <a:pt x="61165" y="241214"/>
                    <a:pt x="37289" y="217338"/>
                  </a:cubicBezTo>
                  <a:cubicBezTo>
                    <a:pt x="13413" y="193462"/>
                    <a:pt x="0" y="161079"/>
                    <a:pt x="0" y="127314"/>
                  </a:cubicBezTo>
                  <a:lnTo>
                    <a:pt x="0" y="127314"/>
                  </a:lnTo>
                  <a:cubicBezTo>
                    <a:pt x="0" y="93548"/>
                    <a:pt x="13413" y="61165"/>
                    <a:pt x="37289" y="37289"/>
                  </a:cubicBezTo>
                  <a:cubicBezTo>
                    <a:pt x="61165" y="13413"/>
                    <a:pt x="93548" y="0"/>
                    <a:pt x="127314" y="0"/>
                  </a:cubicBezTo>
                  <a:close/>
                </a:path>
              </a:pathLst>
            </a:custGeom>
            <a:solidFill>
              <a:srgbClr val="D2BAA4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906874" cy="2927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6478979" y="9259961"/>
            <a:ext cx="780321" cy="653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33"/>
              </a:lnSpc>
            </a:pPr>
            <a:r>
              <a:rPr lang="en-US" sz="3880">
                <a:solidFill>
                  <a:srgbClr val="46222E"/>
                </a:solidFill>
                <a:latin typeface="Wellfleet"/>
                <a:ea typeface="Wellfleet"/>
                <a:cs typeface="Wellfleet"/>
                <a:sym typeface="Wellfleet"/>
              </a:rPr>
              <a:t>03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267200" y="1750027"/>
            <a:ext cx="9759838" cy="26841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770"/>
              </a:lnSpc>
            </a:pPr>
            <a:r>
              <a:rPr lang="ar-SA" sz="7693" b="1" dirty="0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أنماط التصميم المستخدمة :  </a:t>
            </a:r>
            <a:endParaRPr lang="en-US" sz="7693" b="1" dirty="0">
              <a:solidFill>
                <a:srgbClr val="46222E"/>
              </a:solidFill>
              <a:latin typeface="Calibri" pitchFamily="34" charset="0"/>
              <a:ea typeface="Wellfleet"/>
              <a:cs typeface="Calibri" pitchFamily="34" charset="0"/>
              <a:sym typeface="Wellfleet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340091" y="7111032"/>
            <a:ext cx="3488447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85"/>
              </a:lnSpc>
            </a:pPr>
            <a:r>
              <a:rPr lang="en-US" sz="2800" b="1" dirty="0" smtClean="0">
                <a:solidFill>
                  <a:srgbClr val="46222E"/>
                </a:solidFill>
                <a:latin typeface="Castellar" pitchFamily="18" charset="0"/>
                <a:ea typeface="Carollo Playscript"/>
                <a:cs typeface="Calibri" pitchFamily="34" charset="0"/>
                <a:sym typeface="Carollo Playscript"/>
              </a:rPr>
              <a:t>Singleton patterns</a:t>
            </a:r>
            <a:endParaRPr lang="en-US" sz="2800" b="1" dirty="0">
              <a:solidFill>
                <a:srgbClr val="46222E"/>
              </a:solidFill>
              <a:latin typeface="Castellar" pitchFamily="18" charset="0"/>
              <a:ea typeface="Carollo Playscript"/>
              <a:cs typeface="Calibri" pitchFamily="34" charset="0"/>
              <a:sym typeface="Carollo Playscript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7430396" y="7111032"/>
            <a:ext cx="3488447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85"/>
              </a:lnSpc>
            </a:pPr>
            <a:r>
              <a:rPr lang="en-US" sz="2560" b="1" dirty="0" smtClean="0">
                <a:solidFill>
                  <a:srgbClr val="46222E"/>
                </a:solidFill>
                <a:latin typeface="Castellar" pitchFamily="18" charset="0"/>
                <a:ea typeface="Carollo Playscript"/>
                <a:cs typeface="Calibri" pitchFamily="34" charset="0"/>
                <a:sym typeface="Carollo Playscript"/>
              </a:rPr>
              <a:t>Composite patterns</a:t>
            </a:r>
            <a:endParaRPr lang="en-US" sz="2560" b="1" dirty="0">
              <a:solidFill>
                <a:srgbClr val="46222E"/>
              </a:solidFill>
              <a:latin typeface="Castellar" pitchFamily="18" charset="0"/>
              <a:ea typeface="Carollo Playscript"/>
              <a:cs typeface="Calibri" pitchFamily="34" charset="0"/>
              <a:sym typeface="Carollo Playscript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2282814" y="7134638"/>
            <a:ext cx="3488447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85"/>
              </a:lnSpc>
            </a:pPr>
            <a:r>
              <a:rPr lang="en-US" sz="2400" b="1" dirty="0" smtClean="0">
                <a:solidFill>
                  <a:srgbClr val="46222E"/>
                </a:solidFill>
                <a:latin typeface="Castellar" pitchFamily="18" charset="0"/>
                <a:ea typeface="Carollo Playscript"/>
                <a:cs typeface="Calibri" pitchFamily="34" charset="0"/>
                <a:sym typeface="Carollo Playscript"/>
              </a:rPr>
              <a:t>Command patterns</a:t>
            </a:r>
            <a:endParaRPr lang="en-US" sz="2400" b="1" dirty="0">
              <a:solidFill>
                <a:srgbClr val="46222E"/>
              </a:solidFill>
              <a:latin typeface="Castellar" pitchFamily="18" charset="0"/>
              <a:ea typeface="Carollo Playscript"/>
              <a:cs typeface="Calibri" pitchFamily="34" charset="0"/>
              <a:sym typeface="Carollo Playscript"/>
            </a:endParaRPr>
          </a:p>
        </p:txBody>
      </p:sp>
      <p:sp>
        <p:nvSpPr>
          <p:cNvPr id="24" name="Freeform 24"/>
          <p:cNvSpPr/>
          <p:nvPr/>
        </p:nvSpPr>
        <p:spPr>
          <a:xfrm>
            <a:off x="5773051" y="8604837"/>
            <a:ext cx="1036953" cy="1064038"/>
          </a:xfrm>
          <a:custGeom>
            <a:avLst/>
            <a:gdLst/>
            <a:ahLst/>
            <a:cxnLst/>
            <a:rect l="l" t="t" r="r" b="b"/>
            <a:pathLst>
              <a:path w="1036953" h="1064038">
                <a:moveTo>
                  <a:pt x="0" y="0"/>
                </a:moveTo>
                <a:lnTo>
                  <a:pt x="1036953" y="0"/>
                </a:lnTo>
                <a:lnTo>
                  <a:pt x="1036953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6912521" y="1988296"/>
            <a:ext cx="1036953" cy="1064038"/>
          </a:xfrm>
          <a:custGeom>
            <a:avLst/>
            <a:gdLst/>
            <a:ahLst/>
            <a:cxnLst/>
            <a:rect l="l" t="t" r="r" b="b"/>
            <a:pathLst>
              <a:path w="1036953" h="1064038">
                <a:moveTo>
                  <a:pt x="0" y="0"/>
                </a:moveTo>
                <a:lnTo>
                  <a:pt x="1036953" y="0"/>
                </a:lnTo>
                <a:lnTo>
                  <a:pt x="1036953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510223" y="1986915"/>
            <a:ext cx="1036953" cy="1064038"/>
          </a:xfrm>
          <a:custGeom>
            <a:avLst/>
            <a:gdLst/>
            <a:ahLst/>
            <a:cxnLst/>
            <a:rect l="l" t="t" r="r" b="b"/>
            <a:pathLst>
              <a:path w="1036953" h="1064038">
                <a:moveTo>
                  <a:pt x="0" y="0"/>
                </a:moveTo>
                <a:lnTo>
                  <a:pt x="1036954" y="0"/>
                </a:lnTo>
                <a:lnTo>
                  <a:pt x="1036954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grpSp>
        <p:nvGrpSpPr>
          <p:cNvPr id="27" name="Group 27"/>
          <p:cNvGrpSpPr/>
          <p:nvPr/>
        </p:nvGrpSpPr>
        <p:grpSpPr>
          <a:xfrm>
            <a:off x="9614945" y="9058099"/>
            <a:ext cx="400402" cy="400402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7500816" y="5649638"/>
            <a:ext cx="248002" cy="248002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47360" y="5869717"/>
            <a:ext cx="281340" cy="281340"/>
            <a:chOff x="0" y="0"/>
            <a:chExt cx="812800" cy="812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6" name="Freeform 2"/>
          <p:cNvSpPr/>
          <p:nvPr/>
        </p:nvSpPr>
        <p:spPr>
          <a:xfrm>
            <a:off x="2846467" y="3854188"/>
            <a:ext cx="1951056" cy="2505101"/>
          </a:xfrm>
          <a:custGeom>
            <a:avLst/>
            <a:gdLst/>
            <a:ahLst/>
            <a:cxnLst/>
            <a:rect l="l" t="t" r="r" b="b"/>
            <a:pathLst>
              <a:path w="3007545" h="4114800">
                <a:moveTo>
                  <a:pt x="0" y="0"/>
                </a:moveTo>
                <a:lnTo>
                  <a:pt x="3007545" y="0"/>
                </a:lnTo>
                <a:lnTo>
                  <a:pt x="300754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xmlns="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3"/>
          <p:cNvSpPr/>
          <p:nvPr/>
        </p:nvSpPr>
        <p:spPr>
          <a:xfrm>
            <a:off x="7576566" y="3658939"/>
            <a:ext cx="2994043" cy="2895600"/>
          </a:xfrm>
          <a:custGeom>
            <a:avLst/>
            <a:gdLst/>
            <a:ahLst/>
            <a:cxnLst/>
            <a:rect l="l" t="t" r="r" b="b"/>
            <a:pathLst>
              <a:path w="5941338" h="5833314">
                <a:moveTo>
                  <a:pt x="0" y="0"/>
                </a:moveTo>
                <a:lnTo>
                  <a:pt x="5941338" y="0"/>
                </a:lnTo>
                <a:lnTo>
                  <a:pt x="5941338" y="5833314"/>
                </a:lnTo>
                <a:lnTo>
                  <a:pt x="0" y="583331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xmlns="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4"/>
          <p:cNvSpPr/>
          <p:nvPr/>
        </p:nvSpPr>
        <p:spPr>
          <a:xfrm>
            <a:off x="12003766" y="4090555"/>
            <a:ext cx="4046541" cy="2270072"/>
          </a:xfrm>
          <a:custGeom>
            <a:avLst/>
            <a:gdLst/>
            <a:ahLst/>
            <a:cxnLst/>
            <a:rect l="l" t="t" r="r" b="b"/>
            <a:pathLst>
              <a:path w="6842988" h="5089472">
                <a:moveTo>
                  <a:pt x="0" y="0"/>
                </a:moveTo>
                <a:lnTo>
                  <a:pt x="6842988" y="0"/>
                </a:lnTo>
                <a:lnTo>
                  <a:pt x="6842988" y="5089472"/>
                </a:lnTo>
                <a:lnTo>
                  <a:pt x="0" y="508947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597551" y="-5638914"/>
            <a:ext cx="10348352" cy="8767876"/>
          </a:xfrm>
          <a:custGeom>
            <a:avLst/>
            <a:gdLst/>
            <a:ahLst/>
            <a:cxnLst/>
            <a:rect l="l" t="t" r="r" b="b"/>
            <a:pathLst>
              <a:path w="10348352" h="8767876">
                <a:moveTo>
                  <a:pt x="0" y="0"/>
                </a:moveTo>
                <a:lnTo>
                  <a:pt x="10348351" y="0"/>
                </a:lnTo>
                <a:lnTo>
                  <a:pt x="10348351" y="8767876"/>
                </a:lnTo>
                <a:lnTo>
                  <a:pt x="0" y="87678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3037862" y="7634174"/>
            <a:ext cx="10348352" cy="8767876"/>
          </a:xfrm>
          <a:custGeom>
            <a:avLst/>
            <a:gdLst/>
            <a:ahLst/>
            <a:cxnLst/>
            <a:rect l="l" t="t" r="r" b="b"/>
            <a:pathLst>
              <a:path w="10348352" h="8767876">
                <a:moveTo>
                  <a:pt x="10348352" y="0"/>
                </a:moveTo>
                <a:lnTo>
                  <a:pt x="0" y="0"/>
                </a:lnTo>
                <a:lnTo>
                  <a:pt x="0" y="8767876"/>
                </a:lnTo>
                <a:lnTo>
                  <a:pt x="10348352" y="8767876"/>
                </a:lnTo>
                <a:lnTo>
                  <a:pt x="1034835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713988" y="8872538"/>
            <a:ext cx="5700605" cy="4114800"/>
          </a:xfrm>
          <a:custGeom>
            <a:avLst/>
            <a:gdLst/>
            <a:ahLst/>
            <a:cxnLst/>
            <a:rect l="l" t="t" r="r" b="b"/>
            <a:pathLst>
              <a:path w="5700605" h="4114800">
                <a:moveTo>
                  <a:pt x="0" y="0"/>
                </a:moveTo>
                <a:lnTo>
                  <a:pt x="5700604" y="0"/>
                </a:lnTo>
                <a:lnTo>
                  <a:pt x="57006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437698" y="-1905000"/>
            <a:ext cx="5700605" cy="4114800"/>
          </a:xfrm>
          <a:custGeom>
            <a:avLst/>
            <a:gdLst/>
            <a:ahLst/>
            <a:cxnLst/>
            <a:rect l="l" t="t" r="r" b="b"/>
            <a:pathLst>
              <a:path w="5700605" h="4114800">
                <a:moveTo>
                  <a:pt x="0" y="0"/>
                </a:moveTo>
                <a:lnTo>
                  <a:pt x="5700604" y="0"/>
                </a:lnTo>
                <a:lnTo>
                  <a:pt x="57006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979756" y="830482"/>
            <a:ext cx="1104559" cy="919545"/>
          </a:xfrm>
          <a:custGeom>
            <a:avLst/>
            <a:gdLst/>
            <a:ahLst/>
            <a:cxnLst/>
            <a:rect l="l" t="t" r="r" b="b"/>
            <a:pathLst>
              <a:path w="1104559" h="919545">
                <a:moveTo>
                  <a:pt x="0" y="0"/>
                </a:moveTo>
                <a:lnTo>
                  <a:pt x="1104559" y="0"/>
                </a:lnTo>
                <a:lnTo>
                  <a:pt x="1104559" y="919545"/>
                </a:lnTo>
                <a:lnTo>
                  <a:pt x="0" y="9195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918843" y="568927"/>
            <a:ext cx="1104559" cy="919545"/>
          </a:xfrm>
          <a:custGeom>
            <a:avLst/>
            <a:gdLst/>
            <a:ahLst/>
            <a:cxnLst/>
            <a:rect l="l" t="t" r="r" b="b"/>
            <a:pathLst>
              <a:path w="1104559" h="919545">
                <a:moveTo>
                  <a:pt x="0" y="0"/>
                </a:moveTo>
                <a:lnTo>
                  <a:pt x="1104559" y="0"/>
                </a:lnTo>
                <a:lnTo>
                  <a:pt x="1104559" y="919546"/>
                </a:lnTo>
                <a:lnTo>
                  <a:pt x="0" y="9195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725909" y="6737985"/>
            <a:ext cx="2045817" cy="2057400"/>
          </a:xfrm>
          <a:custGeom>
            <a:avLst/>
            <a:gdLst/>
            <a:ahLst/>
            <a:cxnLst/>
            <a:rect l="l" t="t" r="r" b="b"/>
            <a:pathLst>
              <a:path w="2045817" h="2057400">
                <a:moveTo>
                  <a:pt x="0" y="0"/>
                </a:moveTo>
                <a:lnTo>
                  <a:pt x="2045818" y="0"/>
                </a:lnTo>
                <a:lnTo>
                  <a:pt x="204581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475761" y="261555"/>
            <a:ext cx="2045817" cy="2057400"/>
          </a:xfrm>
          <a:custGeom>
            <a:avLst/>
            <a:gdLst/>
            <a:ahLst/>
            <a:cxnLst/>
            <a:rect l="l" t="t" r="r" b="b"/>
            <a:pathLst>
              <a:path w="2045817" h="2057400">
                <a:moveTo>
                  <a:pt x="0" y="0"/>
                </a:moveTo>
                <a:lnTo>
                  <a:pt x="2045817" y="0"/>
                </a:lnTo>
                <a:lnTo>
                  <a:pt x="204581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5848580" y="9136856"/>
            <a:ext cx="3443288" cy="966788"/>
            <a:chOff x="0" y="0"/>
            <a:chExt cx="906874" cy="25462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06874" cy="254627"/>
            </a:xfrm>
            <a:custGeom>
              <a:avLst/>
              <a:gdLst/>
              <a:ahLst/>
              <a:cxnLst/>
              <a:rect l="l" t="t" r="r" b="b"/>
              <a:pathLst>
                <a:path w="906874" h="254627">
                  <a:moveTo>
                    <a:pt x="127314" y="0"/>
                  </a:moveTo>
                  <a:lnTo>
                    <a:pt x="779561" y="0"/>
                  </a:lnTo>
                  <a:cubicBezTo>
                    <a:pt x="813326" y="0"/>
                    <a:pt x="845709" y="13413"/>
                    <a:pt x="869585" y="37289"/>
                  </a:cubicBezTo>
                  <a:cubicBezTo>
                    <a:pt x="893461" y="61165"/>
                    <a:pt x="906874" y="93548"/>
                    <a:pt x="906874" y="127314"/>
                  </a:cubicBezTo>
                  <a:lnTo>
                    <a:pt x="906874" y="127314"/>
                  </a:lnTo>
                  <a:cubicBezTo>
                    <a:pt x="906874" y="197627"/>
                    <a:pt x="849874" y="254627"/>
                    <a:pt x="779561" y="254627"/>
                  </a:cubicBezTo>
                  <a:lnTo>
                    <a:pt x="127314" y="254627"/>
                  </a:lnTo>
                  <a:cubicBezTo>
                    <a:pt x="93548" y="254627"/>
                    <a:pt x="61165" y="241214"/>
                    <a:pt x="37289" y="217338"/>
                  </a:cubicBezTo>
                  <a:cubicBezTo>
                    <a:pt x="13413" y="193462"/>
                    <a:pt x="0" y="161079"/>
                    <a:pt x="0" y="127314"/>
                  </a:cubicBezTo>
                  <a:lnTo>
                    <a:pt x="0" y="127314"/>
                  </a:lnTo>
                  <a:cubicBezTo>
                    <a:pt x="0" y="93548"/>
                    <a:pt x="13413" y="61165"/>
                    <a:pt x="37289" y="37289"/>
                  </a:cubicBezTo>
                  <a:cubicBezTo>
                    <a:pt x="61165" y="13413"/>
                    <a:pt x="93548" y="0"/>
                    <a:pt x="127314" y="0"/>
                  </a:cubicBezTo>
                  <a:close/>
                </a:path>
              </a:pathLst>
            </a:custGeom>
            <a:solidFill>
              <a:srgbClr val="D2BAA4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906874" cy="2927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6478979" y="9259961"/>
            <a:ext cx="780321" cy="653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33"/>
              </a:lnSpc>
            </a:pPr>
            <a:r>
              <a:rPr lang="en-US" sz="3880">
                <a:solidFill>
                  <a:srgbClr val="46222E"/>
                </a:solidFill>
                <a:latin typeface="Wellfleet"/>
                <a:ea typeface="Wellfleet"/>
                <a:cs typeface="Wellfleet"/>
                <a:sym typeface="Wellfleet"/>
              </a:rPr>
              <a:t>04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039177" y="-196570"/>
            <a:ext cx="9558374" cy="13672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419"/>
              </a:lnSpc>
            </a:pPr>
            <a:r>
              <a:rPr lang="en-US" sz="8000" dirty="0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System Class Diagram </a:t>
            </a:r>
            <a:endParaRPr lang="en-US" sz="8000" dirty="0">
              <a:solidFill>
                <a:srgbClr val="46222E"/>
              </a:solidFill>
              <a:latin typeface="Calibri" pitchFamily="34" charset="0"/>
              <a:ea typeface="Wellfleet"/>
              <a:cs typeface="Calibri" pitchFamily="34" charset="0"/>
              <a:sym typeface="Wellfleet"/>
            </a:endParaRPr>
          </a:p>
        </p:txBody>
      </p:sp>
      <p:sp>
        <p:nvSpPr>
          <p:cNvPr id="20" name="Freeform 20"/>
          <p:cNvSpPr/>
          <p:nvPr/>
        </p:nvSpPr>
        <p:spPr>
          <a:xfrm>
            <a:off x="5773051" y="8604837"/>
            <a:ext cx="1036953" cy="1064038"/>
          </a:xfrm>
          <a:custGeom>
            <a:avLst/>
            <a:gdLst/>
            <a:ahLst/>
            <a:cxnLst/>
            <a:rect l="l" t="t" r="r" b="b"/>
            <a:pathLst>
              <a:path w="1036953" h="1064038">
                <a:moveTo>
                  <a:pt x="0" y="0"/>
                </a:moveTo>
                <a:lnTo>
                  <a:pt x="1036953" y="0"/>
                </a:lnTo>
                <a:lnTo>
                  <a:pt x="1036953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6912521" y="1988296"/>
            <a:ext cx="1036953" cy="1064038"/>
          </a:xfrm>
          <a:custGeom>
            <a:avLst/>
            <a:gdLst/>
            <a:ahLst/>
            <a:cxnLst/>
            <a:rect l="l" t="t" r="r" b="b"/>
            <a:pathLst>
              <a:path w="1036953" h="1064038">
                <a:moveTo>
                  <a:pt x="0" y="0"/>
                </a:moveTo>
                <a:lnTo>
                  <a:pt x="1036953" y="0"/>
                </a:lnTo>
                <a:lnTo>
                  <a:pt x="1036953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510223" y="1986915"/>
            <a:ext cx="1036953" cy="1064038"/>
          </a:xfrm>
          <a:custGeom>
            <a:avLst/>
            <a:gdLst/>
            <a:ahLst/>
            <a:cxnLst/>
            <a:rect l="l" t="t" r="r" b="b"/>
            <a:pathLst>
              <a:path w="1036953" h="1064038">
                <a:moveTo>
                  <a:pt x="0" y="0"/>
                </a:moveTo>
                <a:lnTo>
                  <a:pt x="1036954" y="0"/>
                </a:lnTo>
                <a:lnTo>
                  <a:pt x="1036954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23" name="Group 23"/>
          <p:cNvGrpSpPr/>
          <p:nvPr/>
        </p:nvGrpSpPr>
        <p:grpSpPr>
          <a:xfrm>
            <a:off x="9614945" y="9058099"/>
            <a:ext cx="400402" cy="40040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7500816" y="5649638"/>
            <a:ext cx="248002" cy="248002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47360" y="5869717"/>
            <a:ext cx="281340" cy="281340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16" name="صورة 15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60" y="1093812"/>
            <a:ext cx="15687414" cy="9134901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597551" y="-5638914"/>
            <a:ext cx="10348352" cy="8767876"/>
          </a:xfrm>
          <a:custGeom>
            <a:avLst/>
            <a:gdLst/>
            <a:ahLst/>
            <a:cxnLst/>
            <a:rect l="l" t="t" r="r" b="b"/>
            <a:pathLst>
              <a:path w="10348352" h="8767876">
                <a:moveTo>
                  <a:pt x="0" y="0"/>
                </a:moveTo>
                <a:lnTo>
                  <a:pt x="10348351" y="0"/>
                </a:lnTo>
                <a:lnTo>
                  <a:pt x="10348351" y="8767876"/>
                </a:lnTo>
                <a:lnTo>
                  <a:pt x="0" y="87678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3037862" y="7634174"/>
            <a:ext cx="10348352" cy="8767876"/>
          </a:xfrm>
          <a:custGeom>
            <a:avLst/>
            <a:gdLst/>
            <a:ahLst/>
            <a:cxnLst/>
            <a:rect l="l" t="t" r="r" b="b"/>
            <a:pathLst>
              <a:path w="10348352" h="8767876">
                <a:moveTo>
                  <a:pt x="10348352" y="0"/>
                </a:moveTo>
                <a:lnTo>
                  <a:pt x="0" y="0"/>
                </a:lnTo>
                <a:lnTo>
                  <a:pt x="0" y="8767876"/>
                </a:lnTo>
                <a:lnTo>
                  <a:pt x="10348352" y="8767876"/>
                </a:lnTo>
                <a:lnTo>
                  <a:pt x="1034835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713988" y="8872538"/>
            <a:ext cx="5700605" cy="4114800"/>
          </a:xfrm>
          <a:custGeom>
            <a:avLst/>
            <a:gdLst/>
            <a:ahLst/>
            <a:cxnLst/>
            <a:rect l="l" t="t" r="r" b="b"/>
            <a:pathLst>
              <a:path w="5700605" h="4114800">
                <a:moveTo>
                  <a:pt x="0" y="0"/>
                </a:moveTo>
                <a:lnTo>
                  <a:pt x="5700604" y="0"/>
                </a:lnTo>
                <a:lnTo>
                  <a:pt x="57006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437698" y="-1905000"/>
            <a:ext cx="5700605" cy="4114800"/>
          </a:xfrm>
          <a:custGeom>
            <a:avLst/>
            <a:gdLst/>
            <a:ahLst/>
            <a:cxnLst/>
            <a:rect l="l" t="t" r="r" b="b"/>
            <a:pathLst>
              <a:path w="5700605" h="4114800">
                <a:moveTo>
                  <a:pt x="0" y="0"/>
                </a:moveTo>
                <a:lnTo>
                  <a:pt x="5700604" y="0"/>
                </a:lnTo>
                <a:lnTo>
                  <a:pt x="57006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979756" y="830482"/>
            <a:ext cx="1104559" cy="919545"/>
          </a:xfrm>
          <a:custGeom>
            <a:avLst/>
            <a:gdLst/>
            <a:ahLst/>
            <a:cxnLst/>
            <a:rect l="l" t="t" r="r" b="b"/>
            <a:pathLst>
              <a:path w="1104559" h="919545">
                <a:moveTo>
                  <a:pt x="0" y="0"/>
                </a:moveTo>
                <a:lnTo>
                  <a:pt x="1104559" y="0"/>
                </a:lnTo>
                <a:lnTo>
                  <a:pt x="1104559" y="919545"/>
                </a:lnTo>
                <a:lnTo>
                  <a:pt x="0" y="9195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918843" y="568927"/>
            <a:ext cx="1104559" cy="919545"/>
          </a:xfrm>
          <a:custGeom>
            <a:avLst/>
            <a:gdLst/>
            <a:ahLst/>
            <a:cxnLst/>
            <a:rect l="l" t="t" r="r" b="b"/>
            <a:pathLst>
              <a:path w="1104559" h="919545">
                <a:moveTo>
                  <a:pt x="0" y="0"/>
                </a:moveTo>
                <a:lnTo>
                  <a:pt x="1104559" y="0"/>
                </a:lnTo>
                <a:lnTo>
                  <a:pt x="1104559" y="919546"/>
                </a:lnTo>
                <a:lnTo>
                  <a:pt x="0" y="9195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725909" y="6737985"/>
            <a:ext cx="2045817" cy="2057400"/>
          </a:xfrm>
          <a:custGeom>
            <a:avLst/>
            <a:gdLst/>
            <a:ahLst/>
            <a:cxnLst/>
            <a:rect l="l" t="t" r="r" b="b"/>
            <a:pathLst>
              <a:path w="2045817" h="2057400">
                <a:moveTo>
                  <a:pt x="0" y="0"/>
                </a:moveTo>
                <a:lnTo>
                  <a:pt x="2045818" y="0"/>
                </a:lnTo>
                <a:lnTo>
                  <a:pt x="204581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475761" y="261555"/>
            <a:ext cx="2045817" cy="2057400"/>
          </a:xfrm>
          <a:custGeom>
            <a:avLst/>
            <a:gdLst/>
            <a:ahLst/>
            <a:cxnLst/>
            <a:rect l="l" t="t" r="r" b="b"/>
            <a:pathLst>
              <a:path w="2045817" h="2057400">
                <a:moveTo>
                  <a:pt x="0" y="0"/>
                </a:moveTo>
                <a:lnTo>
                  <a:pt x="2045817" y="0"/>
                </a:lnTo>
                <a:lnTo>
                  <a:pt x="204581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5848580" y="9136856"/>
            <a:ext cx="3443288" cy="966788"/>
            <a:chOff x="0" y="0"/>
            <a:chExt cx="906874" cy="25462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06874" cy="254627"/>
            </a:xfrm>
            <a:custGeom>
              <a:avLst/>
              <a:gdLst/>
              <a:ahLst/>
              <a:cxnLst/>
              <a:rect l="l" t="t" r="r" b="b"/>
              <a:pathLst>
                <a:path w="906874" h="254627">
                  <a:moveTo>
                    <a:pt x="127314" y="0"/>
                  </a:moveTo>
                  <a:lnTo>
                    <a:pt x="779561" y="0"/>
                  </a:lnTo>
                  <a:cubicBezTo>
                    <a:pt x="813326" y="0"/>
                    <a:pt x="845709" y="13413"/>
                    <a:pt x="869585" y="37289"/>
                  </a:cubicBezTo>
                  <a:cubicBezTo>
                    <a:pt x="893461" y="61165"/>
                    <a:pt x="906874" y="93548"/>
                    <a:pt x="906874" y="127314"/>
                  </a:cubicBezTo>
                  <a:lnTo>
                    <a:pt x="906874" y="127314"/>
                  </a:lnTo>
                  <a:cubicBezTo>
                    <a:pt x="906874" y="197627"/>
                    <a:pt x="849874" y="254627"/>
                    <a:pt x="779561" y="254627"/>
                  </a:cubicBezTo>
                  <a:lnTo>
                    <a:pt x="127314" y="254627"/>
                  </a:lnTo>
                  <a:cubicBezTo>
                    <a:pt x="93548" y="254627"/>
                    <a:pt x="61165" y="241214"/>
                    <a:pt x="37289" y="217338"/>
                  </a:cubicBezTo>
                  <a:cubicBezTo>
                    <a:pt x="13413" y="193462"/>
                    <a:pt x="0" y="161079"/>
                    <a:pt x="0" y="127314"/>
                  </a:cubicBezTo>
                  <a:lnTo>
                    <a:pt x="0" y="127314"/>
                  </a:lnTo>
                  <a:cubicBezTo>
                    <a:pt x="0" y="93548"/>
                    <a:pt x="13413" y="61165"/>
                    <a:pt x="37289" y="37289"/>
                  </a:cubicBezTo>
                  <a:cubicBezTo>
                    <a:pt x="61165" y="13413"/>
                    <a:pt x="93548" y="0"/>
                    <a:pt x="127314" y="0"/>
                  </a:cubicBezTo>
                  <a:close/>
                </a:path>
              </a:pathLst>
            </a:custGeom>
            <a:solidFill>
              <a:srgbClr val="D2BAA4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906874" cy="2927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6478979" y="9259961"/>
            <a:ext cx="780321" cy="653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33"/>
              </a:lnSpc>
            </a:pPr>
            <a:r>
              <a:rPr lang="en-US" sz="3880">
                <a:solidFill>
                  <a:srgbClr val="46222E"/>
                </a:solidFill>
                <a:latin typeface="Wellfleet"/>
                <a:ea typeface="Wellfleet"/>
                <a:cs typeface="Wellfleet"/>
                <a:sym typeface="Wellfleet"/>
              </a:rPr>
              <a:t>05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495797" y="0"/>
            <a:ext cx="8917697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70"/>
              </a:lnSpc>
            </a:pPr>
            <a:r>
              <a:rPr lang="en-US" sz="7693" dirty="0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Use Case Diagram</a:t>
            </a:r>
            <a:endParaRPr lang="en-US" sz="7693" dirty="0">
              <a:solidFill>
                <a:srgbClr val="46222E"/>
              </a:solidFill>
              <a:latin typeface="Calibri" pitchFamily="34" charset="0"/>
              <a:ea typeface="Wellfleet"/>
              <a:cs typeface="Calibri" pitchFamily="34" charset="0"/>
              <a:sym typeface="Wellfleet"/>
            </a:endParaRPr>
          </a:p>
        </p:txBody>
      </p:sp>
      <p:sp>
        <p:nvSpPr>
          <p:cNvPr id="19" name="Freeform 19"/>
          <p:cNvSpPr/>
          <p:nvPr/>
        </p:nvSpPr>
        <p:spPr>
          <a:xfrm>
            <a:off x="5773051" y="8604837"/>
            <a:ext cx="1036953" cy="1064038"/>
          </a:xfrm>
          <a:custGeom>
            <a:avLst/>
            <a:gdLst/>
            <a:ahLst/>
            <a:cxnLst/>
            <a:rect l="l" t="t" r="r" b="b"/>
            <a:pathLst>
              <a:path w="1036953" h="1064038">
                <a:moveTo>
                  <a:pt x="0" y="0"/>
                </a:moveTo>
                <a:lnTo>
                  <a:pt x="1036953" y="0"/>
                </a:lnTo>
                <a:lnTo>
                  <a:pt x="1036953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6912521" y="1988296"/>
            <a:ext cx="1036953" cy="1064038"/>
          </a:xfrm>
          <a:custGeom>
            <a:avLst/>
            <a:gdLst/>
            <a:ahLst/>
            <a:cxnLst/>
            <a:rect l="l" t="t" r="r" b="b"/>
            <a:pathLst>
              <a:path w="1036953" h="1064038">
                <a:moveTo>
                  <a:pt x="0" y="0"/>
                </a:moveTo>
                <a:lnTo>
                  <a:pt x="1036953" y="0"/>
                </a:lnTo>
                <a:lnTo>
                  <a:pt x="1036953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510223" y="1986915"/>
            <a:ext cx="1036953" cy="1064038"/>
          </a:xfrm>
          <a:custGeom>
            <a:avLst/>
            <a:gdLst/>
            <a:ahLst/>
            <a:cxnLst/>
            <a:rect l="l" t="t" r="r" b="b"/>
            <a:pathLst>
              <a:path w="1036953" h="1064038">
                <a:moveTo>
                  <a:pt x="0" y="0"/>
                </a:moveTo>
                <a:lnTo>
                  <a:pt x="1036954" y="0"/>
                </a:lnTo>
                <a:lnTo>
                  <a:pt x="1036954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/>
          <p:cNvGrpSpPr/>
          <p:nvPr/>
        </p:nvGrpSpPr>
        <p:grpSpPr>
          <a:xfrm>
            <a:off x="9614945" y="9058099"/>
            <a:ext cx="400402" cy="400402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7500816" y="5649638"/>
            <a:ext cx="248002" cy="248002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47360" y="5869717"/>
            <a:ext cx="281340" cy="281340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15" name="صورة 14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6052" y="1476310"/>
            <a:ext cx="8217185" cy="8786813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597551" y="-5638914"/>
            <a:ext cx="10348352" cy="8767876"/>
          </a:xfrm>
          <a:custGeom>
            <a:avLst/>
            <a:gdLst/>
            <a:ahLst/>
            <a:cxnLst/>
            <a:rect l="l" t="t" r="r" b="b"/>
            <a:pathLst>
              <a:path w="10348352" h="8767876">
                <a:moveTo>
                  <a:pt x="0" y="0"/>
                </a:moveTo>
                <a:lnTo>
                  <a:pt x="10348351" y="0"/>
                </a:lnTo>
                <a:lnTo>
                  <a:pt x="10348351" y="8767876"/>
                </a:lnTo>
                <a:lnTo>
                  <a:pt x="0" y="87678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3037862" y="7634174"/>
            <a:ext cx="10348352" cy="8767876"/>
          </a:xfrm>
          <a:custGeom>
            <a:avLst/>
            <a:gdLst/>
            <a:ahLst/>
            <a:cxnLst/>
            <a:rect l="l" t="t" r="r" b="b"/>
            <a:pathLst>
              <a:path w="10348352" h="8767876">
                <a:moveTo>
                  <a:pt x="10348352" y="0"/>
                </a:moveTo>
                <a:lnTo>
                  <a:pt x="0" y="0"/>
                </a:lnTo>
                <a:lnTo>
                  <a:pt x="0" y="8767876"/>
                </a:lnTo>
                <a:lnTo>
                  <a:pt x="10348352" y="8767876"/>
                </a:lnTo>
                <a:lnTo>
                  <a:pt x="1034835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713988" y="8872538"/>
            <a:ext cx="5700605" cy="4114800"/>
          </a:xfrm>
          <a:custGeom>
            <a:avLst/>
            <a:gdLst/>
            <a:ahLst/>
            <a:cxnLst/>
            <a:rect l="l" t="t" r="r" b="b"/>
            <a:pathLst>
              <a:path w="5700605" h="4114800">
                <a:moveTo>
                  <a:pt x="0" y="0"/>
                </a:moveTo>
                <a:lnTo>
                  <a:pt x="5700604" y="0"/>
                </a:lnTo>
                <a:lnTo>
                  <a:pt x="57006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437698" y="-1905000"/>
            <a:ext cx="5700605" cy="4114800"/>
          </a:xfrm>
          <a:custGeom>
            <a:avLst/>
            <a:gdLst/>
            <a:ahLst/>
            <a:cxnLst/>
            <a:rect l="l" t="t" r="r" b="b"/>
            <a:pathLst>
              <a:path w="5700605" h="4114800">
                <a:moveTo>
                  <a:pt x="0" y="0"/>
                </a:moveTo>
                <a:lnTo>
                  <a:pt x="5700604" y="0"/>
                </a:lnTo>
                <a:lnTo>
                  <a:pt x="57006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979756" y="830482"/>
            <a:ext cx="1104559" cy="919545"/>
          </a:xfrm>
          <a:custGeom>
            <a:avLst/>
            <a:gdLst/>
            <a:ahLst/>
            <a:cxnLst/>
            <a:rect l="l" t="t" r="r" b="b"/>
            <a:pathLst>
              <a:path w="1104559" h="919545">
                <a:moveTo>
                  <a:pt x="0" y="0"/>
                </a:moveTo>
                <a:lnTo>
                  <a:pt x="1104559" y="0"/>
                </a:lnTo>
                <a:lnTo>
                  <a:pt x="1104559" y="919545"/>
                </a:lnTo>
                <a:lnTo>
                  <a:pt x="0" y="9195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042452" y="-167068"/>
            <a:ext cx="1104559" cy="919545"/>
          </a:xfrm>
          <a:custGeom>
            <a:avLst/>
            <a:gdLst/>
            <a:ahLst/>
            <a:cxnLst/>
            <a:rect l="l" t="t" r="r" b="b"/>
            <a:pathLst>
              <a:path w="1104559" h="919545">
                <a:moveTo>
                  <a:pt x="0" y="0"/>
                </a:moveTo>
                <a:lnTo>
                  <a:pt x="1104559" y="0"/>
                </a:lnTo>
                <a:lnTo>
                  <a:pt x="1104559" y="919546"/>
                </a:lnTo>
                <a:lnTo>
                  <a:pt x="0" y="9195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725909" y="6737985"/>
            <a:ext cx="2045817" cy="2057400"/>
          </a:xfrm>
          <a:custGeom>
            <a:avLst/>
            <a:gdLst/>
            <a:ahLst/>
            <a:cxnLst/>
            <a:rect l="l" t="t" r="r" b="b"/>
            <a:pathLst>
              <a:path w="2045817" h="2057400">
                <a:moveTo>
                  <a:pt x="0" y="0"/>
                </a:moveTo>
                <a:lnTo>
                  <a:pt x="2045818" y="0"/>
                </a:lnTo>
                <a:lnTo>
                  <a:pt x="204581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475761" y="261555"/>
            <a:ext cx="2045817" cy="2057400"/>
          </a:xfrm>
          <a:custGeom>
            <a:avLst/>
            <a:gdLst/>
            <a:ahLst/>
            <a:cxnLst/>
            <a:rect l="l" t="t" r="r" b="b"/>
            <a:pathLst>
              <a:path w="2045817" h="2057400">
                <a:moveTo>
                  <a:pt x="0" y="0"/>
                </a:moveTo>
                <a:lnTo>
                  <a:pt x="2045817" y="0"/>
                </a:lnTo>
                <a:lnTo>
                  <a:pt x="204581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5848580" y="9136856"/>
            <a:ext cx="3443288" cy="966788"/>
            <a:chOff x="0" y="0"/>
            <a:chExt cx="906874" cy="25462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06874" cy="254627"/>
            </a:xfrm>
            <a:custGeom>
              <a:avLst/>
              <a:gdLst/>
              <a:ahLst/>
              <a:cxnLst/>
              <a:rect l="l" t="t" r="r" b="b"/>
              <a:pathLst>
                <a:path w="906874" h="254627">
                  <a:moveTo>
                    <a:pt x="127314" y="0"/>
                  </a:moveTo>
                  <a:lnTo>
                    <a:pt x="779561" y="0"/>
                  </a:lnTo>
                  <a:cubicBezTo>
                    <a:pt x="813326" y="0"/>
                    <a:pt x="845709" y="13413"/>
                    <a:pt x="869585" y="37289"/>
                  </a:cubicBezTo>
                  <a:cubicBezTo>
                    <a:pt x="893461" y="61165"/>
                    <a:pt x="906874" y="93548"/>
                    <a:pt x="906874" y="127314"/>
                  </a:cubicBezTo>
                  <a:lnTo>
                    <a:pt x="906874" y="127314"/>
                  </a:lnTo>
                  <a:cubicBezTo>
                    <a:pt x="906874" y="197627"/>
                    <a:pt x="849874" y="254627"/>
                    <a:pt x="779561" y="254627"/>
                  </a:cubicBezTo>
                  <a:lnTo>
                    <a:pt x="127314" y="254627"/>
                  </a:lnTo>
                  <a:cubicBezTo>
                    <a:pt x="93548" y="254627"/>
                    <a:pt x="61165" y="241214"/>
                    <a:pt x="37289" y="217338"/>
                  </a:cubicBezTo>
                  <a:cubicBezTo>
                    <a:pt x="13413" y="193462"/>
                    <a:pt x="0" y="161079"/>
                    <a:pt x="0" y="127314"/>
                  </a:cubicBezTo>
                  <a:lnTo>
                    <a:pt x="0" y="127314"/>
                  </a:lnTo>
                  <a:cubicBezTo>
                    <a:pt x="0" y="93548"/>
                    <a:pt x="13413" y="61165"/>
                    <a:pt x="37289" y="37289"/>
                  </a:cubicBezTo>
                  <a:cubicBezTo>
                    <a:pt x="61165" y="13413"/>
                    <a:pt x="93548" y="0"/>
                    <a:pt x="127314" y="0"/>
                  </a:cubicBezTo>
                  <a:close/>
                </a:path>
              </a:pathLst>
            </a:custGeom>
            <a:solidFill>
              <a:srgbClr val="D2BAA4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906874" cy="2927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6478979" y="9259961"/>
            <a:ext cx="780321" cy="653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33"/>
              </a:lnSpc>
            </a:pPr>
            <a:r>
              <a:rPr lang="en-US" sz="3880">
                <a:solidFill>
                  <a:srgbClr val="46222E"/>
                </a:solidFill>
                <a:latin typeface="Wellfleet"/>
                <a:ea typeface="Wellfleet"/>
                <a:cs typeface="Wellfleet"/>
                <a:sym typeface="Wellfleet"/>
              </a:rPr>
              <a:t>06</a:t>
            </a:r>
          </a:p>
        </p:txBody>
      </p:sp>
      <p:sp>
        <p:nvSpPr>
          <p:cNvPr id="19" name="Freeform 19"/>
          <p:cNvSpPr/>
          <p:nvPr/>
        </p:nvSpPr>
        <p:spPr>
          <a:xfrm>
            <a:off x="5773051" y="8604837"/>
            <a:ext cx="1036953" cy="1064038"/>
          </a:xfrm>
          <a:custGeom>
            <a:avLst/>
            <a:gdLst/>
            <a:ahLst/>
            <a:cxnLst/>
            <a:rect l="l" t="t" r="r" b="b"/>
            <a:pathLst>
              <a:path w="1036953" h="1064038">
                <a:moveTo>
                  <a:pt x="0" y="0"/>
                </a:moveTo>
                <a:lnTo>
                  <a:pt x="1036953" y="0"/>
                </a:lnTo>
                <a:lnTo>
                  <a:pt x="1036953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6912521" y="1988296"/>
            <a:ext cx="1036953" cy="1064038"/>
          </a:xfrm>
          <a:custGeom>
            <a:avLst/>
            <a:gdLst/>
            <a:ahLst/>
            <a:cxnLst/>
            <a:rect l="l" t="t" r="r" b="b"/>
            <a:pathLst>
              <a:path w="1036953" h="1064038">
                <a:moveTo>
                  <a:pt x="0" y="0"/>
                </a:moveTo>
                <a:lnTo>
                  <a:pt x="1036953" y="0"/>
                </a:lnTo>
                <a:lnTo>
                  <a:pt x="1036953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510223" y="1986915"/>
            <a:ext cx="1036953" cy="1064038"/>
          </a:xfrm>
          <a:custGeom>
            <a:avLst/>
            <a:gdLst/>
            <a:ahLst/>
            <a:cxnLst/>
            <a:rect l="l" t="t" r="r" b="b"/>
            <a:pathLst>
              <a:path w="1036953" h="1064038">
                <a:moveTo>
                  <a:pt x="0" y="0"/>
                </a:moveTo>
                <a:lnTo>
                  <a:pt x="1036954" y="0"/>
                </a:lnTo>
                <a:lnTo>
                  <a:pt x="1036954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/>
          <p:cNvGrpSpPr/>
          <p:nvPr/>
        </p:nvGrpSpPr>
        <p:grpSpPr>
          <a:xfrm>
            <a:off x="9614945" y="9058099"/>
            <a:ext cx="400402" cy="400402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7500816" y="5649638"/>
            <a:ext cx="248002" cy="248002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47360" y="5869717"/>
            <a:ext cx="281340" cy="281340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15" name="صورة 14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8101"/>
            <a:ext cx="18366881" cy="10190018"/>
          </a:xfrm>
          <a:prstGeom prst="rect">
            <a:avLst/>
          </a:prstGeom>
        </p:spPr>
      </p:pic>
      <p:sp>
        <p:nvSpPr>
          <p:cNvPr id="31" name="TextBox 14"/>
          <p:cNvSpPr txBox="1"/>
          <p:nvPr/>
        </p:nvSpPr>
        <p:spPr>
          <a:xfrm>
            <a:off x="7081302" y="597756"/>
            <a:ext cx="13032497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57250" indent="-857250" algn="ctr">
              <a:lnSpc>
                <a:spcPts val="10770"/>
              </a:lnSpc>
              <a:buFont typeface="Wingdings" pitchFamily="2" charset="2"/>
              <a:buChar char="Ø"/>
            </a:pPr>
            <a:r>
              <a:rPr lang="en-US" sz="4000" dirty="0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Sequence </a:t>
            </a:r>
            <a:r>
              <a:rPr lang="en-US" sz="4000" dirty="0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Diagram</a:t>
            </a:r>
            <a:endParaRPr lang="en-US" sz="4000" dirty="0">
              <a:solidFill>
                <a:srgbClr val="46222E"/>
              </a:solidFill>
              <a:latin typeface="Calibri" pitchFamily="34" charset="0"/>
              <a:ea typeface="Wellfleet"/>
              <a:cs typeface="Calibri" pitchFamily="34" charset="0"/>
              <a:sym typeface="Wellfleet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597551" y="-5638914"/>
            <a:ext cx="10348352" cy="8767876"/>
          </a:xfrm>
          <a:custGeom>
            <a:avLst/>
            <a:gdLst/>
            <a:ahLst/>
            <a:cxnLst/>
            <a:rect l="l" t="t" r="r" b="b"/>
            <a:pathLst>
              <a:path w="10348352" h="8767876">
                <a:moveTo>
                  <a:pt x="0" y="0"/>
                </a:moveTo>
                <a:lnTo>
                  <a:pt x="10348351" y="0"/>
                </a:lnTo>
                <a:lnTo>
                  <a:pt x="10348351" y="8767876"/>
                </a:lnTo>
                <a:lnTo>
                  <a:pt x="0" y="87678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3037862" y="7634174"/>
            <a:ext cx="10348352" cy="8767876"/>
          </a:xfrm>
          <a:custGeom>
            <a:avLst/>
            <a:gdLst/>
            <a:ahLst/>
            <a:cxnLst/>
            <a:rect l="l" t="t" r="r" b="b"/>
            <a:pathLst>
              <a:path w="10348352" h="8767876">
                <a:moveTo>
                  <a:pt x="10348352" y="0"/>
                </a:moveTo>
                <a:lnTo>
                  <a:pt x="0" y="0"/>
                </a:lnTo>
                <a:lnTo>
                  <a:pt x="0" y="8767876"/>
                </a:lnTo>
                <a:lnTo>
                  <a:pt x="10348352" y="8767876"/>
                </a:lnTo>
                <a:lnTo>
                  <a:pt x="1034835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713988" y="8872538"/>
            <a:ext cx="5700605" cy="4114800"/>
          </a:xfrm>
          <a:custGeom>
            <a:avLst/>
            <a:gdLst/>
            <a:ahLst/>
            <a:cxnLst/>
            <a:rect l="l" t="t" r="r" b="b"/>
            <a:pathLst>
              <a:path w="5700605" h="4114800">
                <a:moveTo>
                  <a:pt x="0" y="0"/>
                </a:moveTo>
                <a:lnTo>
                  <a:pt x="5700604" y="0"/>
                </a:lnTo>
                <a:lnTo>
                  <a:pt x="57006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437698" y="-1905000"/>
            <a:ext cx="5700605" cy="4114800"/>
          </a:xfrm>
          <a:custGeom>
            <a:avLst/>
            <a:gdLst/>
            <a:ahLst/>
            <a:cxnLst/>
            <a:rect l="l" t="t" r="r" b="b"/>
            <a:pathLst>
              <a:path w="5700605" h="4114800">
                <a:moveTo>
                  <a:pt x="0" y="0"/>
                </a:moveTo>
                <a:lnTo>
                  <a:pt x="5700604" y="0"/>
                </a:lnTo>
                <a:lnTo>
                  <a:pt x="57006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789256" y="1290255"/>
            <a:ext cx="1104559" cy="919545"/>
          </a:xfrm>
          <a:custGeom>
            <a:avLst/>
            <a:gdLst/>
            <a:ahLst/>
            <a:cxnLst/>
            <a:rect l="l" t="t" r="r" b="b"/>
            <a:pathLst>
              <a:path w="1104559" h="919545">
                <a:moveTo>
                  <a:pt x="0" y="0"/>
                </a:moveTo>
                <a:lnTo>
                  <a:pt x="1104559" y="0"/>
                </a:lnTo>
                <a:lnTo>
                  <a:pt x="1104559" y="919545"/>
                </a:lnTo>
                <a:lnTo>
                  <a:pt x="0" y="9195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228281" y="7738765"/>
            <a:ext cx="1104559" cy="919545"/>
          </a:xfrm>
          <a:custGeom>
            <a:avLst/>
            <a:gdLst/>
            <a:ahLst/>
            <a:cxnLst/>
            <a:rect l="l" t="t" r="r" b="b"/>
            <a:pathLst>
              <a:path w="1104559" h="919545">
                <a:moveTo>
                  <a:pt x="0" y="0"/>
                </a:moveTo>
                <a:lnTo>
                  <a:pt x="1104559" y="0"/>
                </a:lnTo>
                <a:lnTo>
                  <a:pt x="1104559" y="919546"/>
                </a:lnTo>
                <a:lnTo>
                  <a:pt x="0" y="9195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725909" y="6141138"/>
            <a:ext cx="2045817" cy="2057400"/>
          </a:xfrm>
          <a:custGeom>
            <a:avLst/>
            <a:gdLst/>
            <a:ahLst/>
            <a:cxnLst/>
            <a:rect l="l" t="t" r="r" b="b"/>
            <a:pathLst>
              <a:path w="2045817" h="2057400">
                <a:moveTo>
                  <a:pt x="0" y="0"/>
                </a:moveTo>
                <a:lnTo>
                  <a:pt x="2045818" y="0"/>
                </a:lnTo>
                <a:lnTo>
                  <a:pt x="204581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713988" y="721327"/>
            <a:ext cx="2045817" cy="2057400"/>
          </a:xfrm>
          <a:custGeom>
            <a:avLst/>
            <a:gdLst/>
            <a:ahLst/>
            <a:cxnLst/>
            <a:rect l="l" t="t" r="r" b="b"/>
            <a:pathLst>
              <a:path w="2045817" h="2057400">
                <a:moveTo>
                  <a:pt x="0" y="0"/>
                </a:moveTo>
                <a:lnTo>
                  <a:pt x="2045817" y="0"/>
                </a:lnTo>
                <a:lnTo>
                  <a:pt x="204581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9815146" y="1104900"/>
            <a:ext cx="6312293" cy="1104900"/>
            <a:chOff x="0" y="0"/>
            <a:chExt cx="2060020" cy="3780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60020" cy="378080"/>
            </a:xfrm>
            <a:custGeom>
              <a:avLst/>
              <a:gdLst/>
              <a:ahLst/>
              <a:cxnLst/>
              <a:rect l="l" t="t" r="r" b="b"/>
              <a:pathLst>
                <a:path w="2060020" h="378080">
                  <a:moveTo>
                    <a:pt x="98981" y="0"/>
                  </a:moveTo>
                  <a:lnTo>
                    <a:pt x="1961040" y="0"/>
                  </a:lnTo>
                  <a:cubicBezTo>
                    <a:pt x="2015705" y="0"/>
                    <a:pt x="2060020" y="44315"/>
                    <a:pt x="2060020" y="98981"/>
                  </a:cubicBezTo>
                  <a:lnTo>
                    <a:pt x="2060020" y="279099"/>
                  </a:lnTo>
                  <a:cubicBezTo>
                    <a:pt x="2060020" y="333765"/>
                    <a:pt x="2015705" y="378080"/>
                    <a:pt x="1961040" y="378080"/>
                  </a:cubicBezTo>
                  <a:lnTo>
                    <a:pt x="98981" y="378080"/>
                  </a:lnTo>
                  <a:cubicBezTo>
                    <a:pt x="44315" y="378080"/>
                    <a:pt x="0" y="333765"/>
                    <a:pt x="0" y="279099"/>
                  </a:cubicBezTo>
                  <a:lnTo>
                    <a:pt x="0" y="98981"/>
                  </a:lnTo>
                  <a:cubicBezTo>
                    <a:pt x="0" y="44315"/>
                    <a:pt x="44315" y="0"/>
                    <a:pt x="98981" y="0"/>
                  </a:cubicBezTo>
                  <a:close/>
                </a:path>
              </a:pathLst>
            </a:custGeom>
            <a:solidFill>
              <a:srgbClr val="46222E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060020" cy="4161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234679" y="987193"/>
            <a:ext cx="5203019" cy="12824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57250" indent="-857250" algn="ctr">
              <a:lnSpc>
                <a:spcPts val="9997"/>
              </a:lnSpc>
              <a:buFont typeface="Wingdings" pitchFamily="2" charset="2"/>
              <a:buChar char="Ø"/>
            </a:pPr>
            <a:r>
              <a:rPr lang="ar-SA" sz="4800" dirty="0" smtClean="0">
                <a:solidFill>
                  <a:srgbClr val="FFF6E7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تطبيق انماط التصميم</a:t>
            </a:r>
            <a:endParaRPr lang="en-US" sz="4800" dirty="0">
              <a:solidFill>
                <a:srgbClr val="FFF6E7"/>
              </a:solidFill>
              <a:latin typeface="Calibri" pitchFamily="34" charset="0"/>
              <a:ea typeface="Wellfleet"/>
              <a:cs typeface="Calibri" pitchFamily="34" charset="0"/>
              <a:sym typeface="Wellfleet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25933" y="2186795"/>
            <a:ext cx="18550709" cy="17312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10"/>
              </a:lnSpc>
            </a:pPr>
            <a:endParaRPr lang="ar-SA" sz="3200" dirty="0" smtClean="0">
              <a:solidFill>
                <a:srgbClr val="46222E"/>
              </a:solidFill>
              <a:latin typeface="Carollo Playscript"/>
              <a:ea typeface="Carollo Playscript"/>
              <a:cs typeface="Carollo Playscript"/>
              <a:sym typeface="Carollo Playscript"/>
            </a:endParaRPr>
          </a:p>
          <a:p>
            <a:pPr>
              <a:lnSpc>
                <a:spcPts val="4510"/>
              </a:lnSpc>
            </a:pPr>
            <a:r>
              <a:rPr lang="en-US" sz="3200" b="1" dirty="0" smtClean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1</a:t>
            </a:r>
            <a:r>
              <a:rPr lang="ar-SA" sz="32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. </a:t>
            </a:r>
            <a:r>
              <a:rPr lang="en-US" sz="32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Main.java                    - </a:t>
            </a:r>
            <a:r>
              <a:rPr lang="ar-SA" sz="32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الواجهة الرئيسية</a:t>
            </a:r>
          </a:p>
          <a:p>
            <a:pPr>
              <a:lnSpc>
                <a:spcPts val="4510"/>
              </a:lnSpc>
            </a:pPr>
            <a:endParaRPr lang="en-US" sz="3221" dirty="0">
              <a:solidFill>
                <a:srgbClr val="46222E"/>
              </a:solidFill>
              <a:latin typeface="Calibri" pitchFamily="34" charset="0"/>
              <a:ea typeface="Carollo Playscript"/>
              <a:cs typeface="Calibri" pitchFamily="34" charset="0"/>
              <a:sym typeface="Carollo Playscript"/>
            </a:endParaRPr>
          </a:p>
        </p:txBody>
      </p:sp>
      <p:sp>
        <p:nvSpPr>
          <p:cNvPr id="19" name="Freeform 19"/>
          <p:cNvSpPr/>
          <p:nvPr/>
        </p:nvSpPr>
        <p:spPr>
          <a:xfrm>
            <a:off x="13437123" y="9258300"/>
            <a:ext cx="1900973" cy="1950626"/>
          </a:xfrm>
          <a:custGeom>
            <a:avLst/>
            <a:gdLst/>
            <a:ahLst/>
            <a:cxnLst/>
            <a:rect l="l" t="t" r="r" b="b"/>
            <a:pathLst>
              <a:path w="1900973" h="1950626">
                <a:moveTo>
                  <a:pt x="0" y="0"/>
                </a:moveTo>
                <a:lnTo>
                  <a:pt x="1900973" y="0"/>
                </a:lnTo>
                <a:lnTo>
                  <a:pt x="1900973" y="1950626"/>
                </a:lnTo>
                <a:lnTo>
                  <a:pt x="0" y="19506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9977810" y="3052417"/>
            <a:ext cx="1928197" cy="1978560"/>
          </a:xfrm>
          <a:custGeom>
            <a:avLst/>
            <a:gdLst/>
            <a:ahLst/>
            <a:cxnLst/>
            <a:rect l="l" t="t" r="r" b="b"/>
            <a:pathLst>
              <a:path w="1928197" h="1978560">
                <a:moveTo>
                  <a:pt x="0" y="0"/>
                </a:moveTo>
                <a:lnTo>
                  <a:pt x="1928197" y="0"/>
                </a:lnTo>
                <a:lnTo>
                  <a:pt x="1928197" y="1978560"/>
                </a:lnTo>
                <a:lnTo>
                  <a:pt x="0" y="197856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21" name="Group 21"/>
          <p:cNvGrpSpPr/>
          <p:nvPr/>
        </p:nvGrpSpPr>
        <p:grpSpPr>
          <a:xfrm>
            <a:off x="2484260" y="1628394"/>
            <a:ext cx="281340" cy="281340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614945" y="9058099"/>
            <a:ext cx="400402" cy="400402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7500816" y="5649638"/>
            <a:ext cx="248002" cy="248002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0" name="Group 10"/>
          <p:cNvGrpSpPr/>
          <p:nvPr/>
        </p:nvGrpSpPr>
        <p:grpSpPr>
          <a:xfrm>
            <a:off x="15848580" y="9136856"/>
            <a:ext cx="3443288" cy="966788"/>
            <a:chOff x="0" y="0"/>
            <a:chExt cx="906874" cy="254627"/>
          </a:xfrm>
        </p:grpSpPr>
        <p:sp>
          <p:nvSpPr>
            <p:cNvPr id="31" name="Freeform 11"/>
            <p:cNvSpPr/>
            <p:nvPr/>
          </p:nvSpPr>
          <p:spPr>
            <a:xfrm>
              <a:off x="0" y="0"/>
              <a:ext cx="906874" cy="254627"/>
            </a:xfrm>
            <a:custGeom>
              <a:avLst/>
              <a:gdLst/>
              <a:ahLst/>
              <a:cxnLst/>
              <a:rect l="l" t="t" r="r" b="b"/>
              <a:pathLst>
                <a:path w="906874" h="254627">
                  <a:moveTo>
                    <a:pt x="127314" y="0"/>
                  </a:moveTo>
                  <a:lnTo>
                    <a:pt x="779561" y="0"/>
                  </a:lnTo>
                  <a:cubicBezTo>
                    <a:pt x="813326" y="0"/>
                    <a:pt x="845709" y="13413"/>
                    <a:pt x="869585" y="37289"/>
                  </a:cubicBezTo>
                  <a:cubicBezTo>
                    <a:pt x="893461" y="61165"/>
                    <a:pt x="906874" y="93548"/>
                    <a:pt x="906874" y="127314"/>
                  </a:cubicBezTo>
                  <a:lnTo>
                    <a:pt x="906874" y="127314"/>
                  </a:lnTo>
                  <a:cubicBezTo>
                    <a:pt x="906874" y="197627"/>
                    <a:pt x="849874" y="254627"/>
                    <a:pt x="779561" y="254627"/>
                  </a:cubicBezTo>
                  <a:lnTo>
                    <a:pt x="127314" y="254627"/>
                  </a:lnTo>
                  <a:cubicBezTo>
                    <a:pt x="93548" y="254627"/>
                    <a:pt x="61165" y="241214"/>
                    <a:pt x="37289" y="217338"/>
                  </a:cubicBezTo>
                  <a:cubicBezTo>
                    <a:pt x="13413" y="193462"/>
                    <a:pt x="0" y="161079"/>
                    <a:pt x="0" y="127314"/>
                  </a:cubicBezTo>
                  <a:lnTo>
                    <a:pt x="0" y="127314"/>
                  </a:lnTo>
                  <a:cubicBezTo>
                    <a:pt x="0" y="93548"/>
                    <a:pt x="13413" y="61165"/>
                    <a:pt x="37289" y="37289"/>
                  </a:cubicBezTo>
                  <a:cubicBezTo>
                    <a:pt x="61165" y="13413"/>
                    <a:pt x="93548" y="0"/>
                    <a:pt x="127314" y="0"/>
                  </a:cubicBezTo>
                  <a:close/>
                </a:path>
              </a:pathLst>
            </a:custGeom>
            <a:solidFill>
              <a:srgbClr val="D2BAA4"/>
            </a:solidFill>
          </p:spPr>
        </p:sp>
        <p:sp>
          <p:nvSpPr>
            <p:cNvPr id="32" name="TextBox 12"/>
            <p:cNvSpPr txBox="1"/>
            <p:nvPr/>
          </p:nvSpPr>
          <p:spPr>
            <a:xfrm>
              <a:off x="0" y="-38100"/>
              <a:ext cx="906874" cy="2927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3" name="TextBox 13"/>
          <p:cNvSpPr txBox="1"/>
          <p:nvPr/>
        </p:nvSpPr>
        <p:spPr>
          <a:xfrm>
            <a:off x="16478979" y="9259961"/>
            <a:ext cx="780321" cy="653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33"/>
              </a:lnSpc>
            </a:pPr>
            <a:r>
              <a:rPr lang="en-US" sz="3880" dirty="0" smtClean="0">
                <a:solidFill>
                  <a:srgbClr val="46222E"/>
                </a:solidFill>
                <a:latin typeface="Wellfleet"/>
                <a:ea typeface="Wellfleet"/>
                <a:cs typeface="Wellfleet"/>
                <a:sym typeface="Wellfleet"/>
              </a:rPr>
              <a:t>07</a:t>
            </a:r>
            <a:endParaRPr lang="en-US" sz="3880" dirty="0">
              <a:solidFill>
                <a:srgbClr val="46222E"/>
              </a:solidFill>
              <a:latin typeface="Wellfleet"/>
              <a:ea typeface="Wellfleet"/>
              <a:cs typeface="Wellfleet"/>
              <a:sym typeface="Wellfleet"/>
            </a:endParaRPr>
          </a:p>
        </p:txBody>
      </p:sp>
      <p:sp>
        <p:nvSpPr>
          <p:cNvPr id="36" name="TextBox 15"/>
          <p:cNvSpPr txBox="1"/>
          <p:nvPr/>
        </p:nvSpPr>
        <p:spPr>
          <a:xfrm>
            <a:off x="339590" y="2955057"/>
            <a:ext cx="18550709" cy="17312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10"/>
              </a:lnSpc>
            </a:pPr>
            <a:endParaRPr lang="ar-SA" sz="3221" dirty="0" smtClean="0">
              <a:solidFill>
                <a:srgbClr val="46222E"/>
              </a:solidFill>
              <a:latin typeface="Carollo Playscript"/>
              <a:ea typeface="Carollo Playscript"/>
              <a:cs typeface="Carollo Playscript"/>
              <a:sym typeface="Carollo Playscript"/>
            </a:endParaRPr>
          </a:p>
          <a:p>
            <a:pPr>
              <a:lnSpc>
                <a:spcPts val="4510"/>
              </a:lnSpc>
            </a:pPr>
            <a:r>
              <a:rPr lang="en-US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2</a:t>
            </a:r>
            <a:r>
              <a:rPr lang="ar-SA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. </a:t>
            </a:r>
            <a:r>
              <a:rPr lang="en-US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LibraryManager.java          - Singleton (</a:t>
            </a:r>
            <a:r>
              <a:rPr lang="ar-SA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النمط </a:t>
            </a:r>
            <a:r>
              <a:rPr lang="ar-SA" sz="2800" b="1" dirty="0" smtClean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الفردي</a:t>
            </a:r>
            <a:r>
              <a:rPr lang="en-US" sz="2800" b="1" dirty="0" smtClean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)</a:t>
            </a:r>
            <a:endParaRPr lang="ar-SA" sz="2800" b="1" dirty="0">
              <a:solidFill>
                <a:srgbClr val="46222E"/>
              </a:solidFill>
              <a:latin typeface="Calibri" pitchFamily="34" charset="0"/>
              <a:ea typeface="Carollo Playscript"/>
              <a:cs typeface="Calibri" pitchFamily="34" charset="0"/>
              <a:sym typeface="Carollo Playscript"/>
            </a:endParaRPr>
          </a:p>
          <a:p>
            <a:pPr>
              <a:lnSpc>
                <a:spcPts val="4510"/>
              </a:lnSpc>
            </a:pPr>
            <a:endParaRPr lang="en-US" sz="3221" dirty="0">
              <a:solidFill>
                <a:srgbClr val="46222E"/>
              </a:solidFill>
              <a:latin typeface="Calibri" pitchFamily="34" charset="0"/>
              <a:ea typeface="Carollo Playscript"/>
              <a:cs typeface="Calibri" pitchFamily="34" charset="0"/>
              <a:sym typeface="Carollo Playscript"/>
            </a:endParaRPr>
          </a:p>
        </p:txBody>
      </p:sp>
      <p:sp>
        <p:nvSpPr>
          <p:cNvPr id="37" name="TextBox 15"/>
          <p:cNvSpPr txBox="1"/>
          <p:nvPr/>
        </p:nvSpPr>
        <p:spPr>
          <a:xfrm>
            <a:off x="8742930" y="5763748"/>
            <a:ext cx="18550709" cy="17312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10"/>
              </a:lnSpc>
            </a:pPr>
            <a:endParaRPr lang="ar-SA" sz="3221" dirty="0" smtClean="0">
              <a:solidFill>
                <a:srgbClr val="46222E"/>
              </a:solidFill>
              <a:latin typeface="Carollo Playscript"/>
              <a:ea typeface="Carollo Playscript"/>
              <a:cs typeface="Carollo Playscript"/>
              <a:sym typeface="Carollo Playscript"/>
            </a:endParaRPr>
          </a:p>
          <a:p>
            <a:pPr>
              <a:lnSpc>
                <a:spcPts val="4510"/>
              </a:lnSpc>
            </a:pPr>
            <a:r>
              <a:rPr lang="en-US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12</a:t>
            </a:r>
            <a:r>
              <a:rPr lang="ar-SA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. </a:t>
            </a:r>
            <a:r>
              <a:rPr lang="en-US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Invoker.java                - Command </a:t>
            </a:r>
            <a:r>
              <a:rPr lang="en-US" sz="2800" b="1" dirty="0" smtClean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(</a:t>
            </a:r>
            <a:r>
              <a:rPr lang="ar-SA" sz="2800" b="1" dirty="0" smtClean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  ( منفذ الأوامر</a:t>
            </a:r>
            <a:endParaRPr lang="ar-SA" sz="2800" b="1" dirty="0">
              <a:solidFill>
                <a:srgbClr val="46222E"/>
              </a:solidFill>
              <a:latin typeface="Calibri" pitchFamily="34" charset="0"/>
              <a:ea typeface="Carollo Playscript"/>
              <a:cs typeface="Calibri" pitchFamily="34" charset="0"/>
              <a:sym typeface="Carollo Playscript"/>
            </a:endParaRPr>
          </a:p>
          <a:p>
            <a:pPr>
              <a:lnSpc>
                <a:spcPts val="4510"/>
              </a:lnSpc>
            </a:pPr>
            <a:endParaRPr lang="en-US" sz="3221" dirty="0">
              <a:solidFill>
                <a:srgbClr val="46222E"/>
              </a:solidFill>
              <a:latin typeface="Calibri" pitchFamily="34" charset="0"/>
              <a:ea typeface="Carollo Playscript"/>
              <a:cs typeface="Calibri" pitchFamily="34" charset="0"/>
              <a:sym typeface="Carollo Playscript"/>
            </a:endParaRPr>
          </a:p>
        </p:txBody>
      </p:sp>
      <p:sp>
        <p:nvSpPr>
          <p:cNvPr id="38" name="TextBox 15"/>
          <p:cNvSpPr txBox="1"/>
          <p:nvPr/>
        </p:nvSpPr>
        <p:spPr>
          <a:xfrm>
            <a:off x="3805762" y="2836963"/>
            <a:ext cx="18550709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10"/>
              </a:lnSpc>
            </a:pPr>
            <a:r>
              <a:rPr lang="en-US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8</a:t>
            </a:r>
            <a:r>
              <a:rPr lang="ar-SA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. </a:t>
            </a:r>
            <a:r>
              <a:rPr lang="en-US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BorrowBookCommand.java       - Command </a:t>
            </a:r>
            <a:r>
              <a:rPr lang="en-US" sz="2800" b="1" dirty="0" smtClean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(</a:t>
            </a:r>
            <a:r>
              <a:rPr lang="ar-SA" sz="2800" b="1" dirty="0" smtClean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( أمر استعارة</a:t>
            </a:r>
            <a:endParaRPr lang="ar-SA" sz="2800" b="1" dirty="0">
              <a:solidFill>
                <a:srgbClr val="46222E"/>
              </a:solidFill>
              <a:latin typeface="Calibri" pitchFamily="34" charset="0"/>
              <a:ea typeface="Carollo Playscript"/>
              <a:cs typeface="Calibri" pitchFamily="34" charset="0"/>
              <a:sym typeface="Carollo Playscript"/>
            </a:endParaRPr>
          </a:p>
          <a:p>
            <a:pPr algn="ctr">
              <a:lnSpc>
                <a:spcPts val="4510"/>
              </a:lnSpc>
            </a:pPr>
            <a:endParaRPr lang="ar-SA" sz="3221" dirty="0" smtClean="0">
              <a:solidFill>
                <a:srgbClr val="46222E"/>
              </a:solidFill>
              <a:latin typeface="Carollo Playscript"/>
              <a:ea typeface="Carollo Playscript"/>
              <a:cs typeface="Carollo Playscript"/>
              <a:sym typeface="Carollo Playscript"/>
            </a:endParaRPr>
          </a:p>
        </p:txBody>
      </p:sp>
      <p:sp>
        <p:nvSpPr>
          <p:cNvPr id="39" name="TextBox 15"/>
          <p:cNvSpPr txBox="1"/>
          <p:nvPr/>
        </p:nvSpPr>
        <p:spPr>
          <a:xfrm>
            <a:off x="9614945" y="7685472"/>
            <a:ext cx="18550709" cy="17312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10"/>
              </a:lnSpc>
            </a:pPr>
            <a:endParaRPr lang="ar-SA" sz="3221" dirty="0" smtClean="0">
              <a:solidFill>
                <a:srgbClr val="46222E"/>
              </a:solidFill>
              <a:latin typeface="Carollo Playscript"/>
              <a:ea typeface="Carollo Playscript"/>
              <a:cs typeface="Carollo Playscript"/>
              <a:sym typeface="Carollo Playscript"/>
            </a:endParaRPr>
          </a:p>
          <a:p>
            <a:pPr>
              <a:lnSpc>
                <a:spcPts val="4510"/>
              </a:lnSpc>
            </a:pPr>
            <a:r>
              <a:rPr lang="en-US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14</a:t>
            </a:r>
            <a:r>
              <a:rPr lang="ar-SA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. </a:t>
            </a:r>
            <a:r>
              <a:rPr lang="en-US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User.java                         -  </a:t>
            </a:r>
            <a:r>
              <a:rPr lang="ar-SA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بيانات المستخدم </a:t>
            </a:r>
            <a:endParaRPr lang="en-US" sz="2800" b="1" dirty="0">
              <a:solidFill>
                <a:srgbClr val="46222E"/>
              </a:solidFill>
              <a:latin typeface="Calibri" pitchFamily="34" charset="0"/>
              <a:ea typeface="Carollo Playscript"/>
              <a:cs typeface="Calibri" pitchFamily="34" charset="0"/>
              <a:sym typeface="Carollo Playscript"/>
            </a:endParaRPr>
          </a:p>
          <a:p>
            <a:pPr>
              <a:lnSpc>
                <a:spcPts val="4510"/>
              </a:lnSpc>
            </a:pPr>
            <a:endParaRPr lang="en-US" sz="3221" dirty="0">
              <a:solidFill>
                <a:srgbClr val="46222E"/>
              </a:solidFill>
              <a:latin typeface="Calibri" pitchFamily="34" charset="0"/>
              <a:ea typeface="Carollo Playscript"/>
              <a:cs typeface="Calibri" pitchFamily="34" charset="0"/>
              <a:sym typeface="Carollo Playscript"/>
            </a:endParaRPr>
          </a:p>
        </p:txBody>
      </p:sp>
      <p:sp>
        <p:nvSpPr>
          <p:cNvPr id="40" name="TextBox 15"/>
          <p:cNvSpPr txBox="1"/>
          <p:nvPr/>
        </p:nvSpPr>
        <p:spPr>
          <a:xfrm>
            <a:off x="8742930" y="3176075"/>
            <a:ext cx="18550709" cy="17312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10"/>
              </a:lnSpc>
            </a:pPr>
            <a:endParaRPr lang="ar-SA" sz="3221" dirty="0" smtClean="0">
              <a:solidFill>
                <a:srgbClr val="46222E"/>
              </a:solidFill>
              <a:latin typeface="Carollo Playscript"/>
              <a:ea typeface="Carollo Playscript"/>
              <a:cs typeface="Carollo Playscript"/>
              <a:sym typeface="Carollo Playscript"/>
            </a:endParaRPr>
          </a:p>
          <a:p>
            <a:pPr>
              <a:lnSpc>
                <a:spcPts val="4510"/>
              </a:lnSpc>
            </a:pPr>
            <a:r>
              <a:rPr lang="en-US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9</a:t>
            </a:r>
            <a:r>
              <a:rPr lang="ar-SA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. </a:t>
            </a:r>
            <a:r>
              <a:rPr lang="en-US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ReturnBookCommand.java       - Command (</a:t>
            </a:r>
            <a:r>
              <a:rPr lang="ar-SA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أمر </a:t>
            </a:r>
            <a:r>
              <a:rPr lang="ar-SA" sz="2800" b="1" dirty="0" smtClean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إرجاع</a:t>
            </a:r>
            <a:r>
              <a:rPr lang="en-US" sz="2800" b="1" dirty="0" smtClean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)</a:t>
            </a:r>
            <a:endParaRPr lang="ar-SA" sz="2800" b="1" dirty="0">
              <a:solidFill>
                <a:srgbClr val="46222E"/>
              </a:solidFill>
              <a:latin typeface="Calibri" pitchFamily="34" charset="0"/>
              <a:ea typeface="Carollo Playscript"/>
              <a:cs typeface="Calibri" pitchFamily="34" charset="0"/>
              <a:sym typeface="Carollo Playscript"/>
            </a:endParaRPr>
          </a:p>
          <a:p>
            <a:pPr>
              <a:lnSpc>
                <a:spcPts val="4510"/>
              </a:lnSpc>
            </a:pPr>
            <a:endParaRPr lang="en-US" sz="3221" dirty="0">
              <a:solidFill>
                <a:srgbClr val="46222E"/>
              </a:solidFill>
              <a:latin typeface="Calibri" pitchFamily="34" charset="0"/>
              <a:ea typeface="Carollo Playscript"/>
              <a:cs typeface="Calibri" pitchFamily="34" charset="0"/>
              <a:sym typeface="Carollo Playscript"/>
            </a:endParaRPr>
          </a:p>
        </p:txBody>
      </p:sp>
      <p:sp>
        <p:nvSpPr>
          <p:cNvPr id="41" name="TextBox 15"/>
          <p:cNvSpPr txBox="1"/>
          <p:nvPr/>
        </p:nvSpPr>
        <p:spPr>
          <a:xfrm>
            <a:off x="8742928" y="4043650"/>
            <a:ext cx="18550709" cy="17312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10"/>
              </a:lnSpc>
            </a:pPr>
            <a:endParaRPr lang="ar-SA" sz="3221" dirty="0" smtClean="0">
              <a:solidFill>
                <a:srgbClr val="46222E"/>
              </a:solidFill>
              <a:latin typeface="Carollo Playscript"/>
              <a:ea typeface="Carollo Playscript"/>
              <a:cs typeface="Carollo Playscript"/>
              <a:sym typeface="Carollo Playscript"/>
            </a:endParaRPr>
          </a:p>
          <a:p>
            <a:pPr>
              <a:lnSpc>
                <a:spcPts val="4510"/>
              </a:lnSpc>
            </a:pPr>
            <a:r>
              <a:rPr lang="en-US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10</a:t>
            </a:r>
            <a:r>
              <a:rPr lang="ar-SA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. </a:t>
            </a:r>
            <a:r>
              <a:rPr lang="en-US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DeleteBookCommand.java      - Command </a:t>
            </a:r>
            <a:r>
              <a:rPr lang="en-US" sz="2800" b="1" dirty="0" smtClean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(</a:t>
            </a:r>
            <a:r>
              <a:rPr lang="ar-SA" sz="2800" b="1" dirty="0" smtClean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 </a:t>
            </a:r>
            <a:r>
              <a:rPr lang="ar-SA" sz="3221" dirty="0" smtClean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(أمر </a:t>
            </a:r>
            <a:r>
              <a:rPr lang="ar-SA" sz="322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حذف </a:t>
            </a:r>
            <a:r>
              <a:rPr lang="ar-SA" sz="3221" dirty="0" smtClean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كتاب </a:t>
            </a:r>
            <a:endParaRPr lang="ar-SA" sz="3221" dirty="0">
              <a:solidFill>
                <a:srgbClr val="46222E"/>
              </a:solidFill>
              <a:latin typeface="Calibri" pitchFamily="34" charset="0"/>
              <a:ea typeface="Carollo Playscript"/>
              <a:cs typeface="Calibri" pitchFamily="34" charset="0"/>
              <a:sym typeface="Carollo Playscript"/>
            </a:endParaRPr>
          </a:p>
          <a:p>
            <a:pPr>
              <a:lnSpc>
                <a:spcPts val="4510"/>
              </a:lnSpc>
            </a:pPr>
            <a:endParaRPr lang="en-US" sz="3221" dirty="0">
              <a:solidFill>
                <a:srgbClr val="46222E"/>
              </a:solidFill>
              <a:latin typeface="Calibri" pitchFamily="34" charset="0"/>
              <a:ea typeface="Carollo Playscript"/>
              <a:cs typeface="Calibri" pitchFamily="34" charset="0"/>
              <a:sym typeface="Carollo Playscript"/>
            </a:endParaRPr>
          </a:p>
        </p:txBody>
      </p:sp>
      <p:sp>
        <p:nvSpPr>
          <p:cNvPr id="42" name="TextBox 15"/>
          <p:cNvSpPr txBox="1"/>
          <p:nvPr/>
        </p:nvSpPr>
        <p:spPr>
          <a:xfrm>
            <a:off x="8702920" y="6629369"/>
            <a:ext cx="18550709" cy="17312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10"/>
              </a:lnSpc>
            </a:pPr>
            <a:endParaRPr lang="ar-SA" sz="3221" dirty="0" smtClean="0">
              <a:solidFill>
                <a:srgbClr val="46222E"/>
              </a:solidFill>
              <a:latin typeface="Carollo Playscript"/>
              <a:ea typeface="Carollo Playscript"/>
              <a:cs typeface="Carollo Playscript"/>
              <a:sym typeface="Carollo Playscript"/>
            </a:endParaRPr>
          </a:p>
          <a:p>
            <a:pPr>
              <a:lnSpc>
                <a:spcPts val="4510"/>
              </a:lnSpc>
            </a:pPr>
            <a:r>
              <a:rPr lang="en-US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13</a:t>
            </a:r>
            <a:r>
              <a:rPr lang="ar-SA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. </a:t>
            </a:r>
            <a:r>
              <a:rPr lang="en-US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LoginSystem.java            - </a:t>
            </a:r>
            <a:r>
              <a:rPr lang="ar-SA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نظام تسجيل الدخول</a:t>
            </a:r>
          </a:p>
          <a:p>
            <a:pPr>
              <a:lnSpc>
                <a:spcPts val="4510"/>
              </a:lnSpc>
            </a:pPr>
            <a:endParaRPr lang="en-US" sz="3221" dirty="0">
              <a:solidFill>
                <a:srgbClr val="46222E"/>
              </a:solidFill>
              <a:latin typeface="Calibri" pitchFamily="34" charset="0"/>
              <a:ea typeface="Carollo Playscript"/>
              <a:cs typeface="Calibri" pitchFamily="34" charset="0"/>
              <a:sym typeface="Carollo Playscript"/>
            </a:endParaRPr>
          </a:p>
        </p:txBody>
      </p:sp>
      <p:sp>
        <p:nvSpPr>
          <p:cNvPr id="43" name="TextBox 15"/>
          <p:cNvSpPr txBox="1"/>
          <p:nvPr/>
        </p:nvSpPr>
        <p:spPr>
          <a:xfrm>
            <a:off x="377127" y="7260952"/>
            <a:ext cx="18550709" cy="17312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10"/>
              </a:lnSpc>
            </a:pPr>
            <a:endParaRPr lang="ar-SA" sz="3221" dirty="0" smtClean="0">
              <a:solidFill>
                <a:srgbClr val="46222E"/>
              </a:solidFill>
              <a:latin typeface="Carollo Playscript"/>
              <a:ea typeface="Carollo Playscript"/>
              <a:cs typeface="Carollo Playscript"/>
              <a:sym typeface="Carollo Playscript"/>
            </a:endParaRPr>
          </a:p>
          <a:p>
            <a:pPr>
              <a:lnSpc>
                <a:spcPts val="4510"/>
              </a:lnSpc>
            </a:pPr>
            <a:r>
              <a:rPr lang="en-US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7</a:t>
            </a:r>
            <a:r>
              <a:rPr lang="ar-SA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. </a:t>
            </a:r>
            <a:r>
              <a:rPr lang="en-US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AddBookCommand.java          - Command </a:t>
            </a:r>
            <a:r>
              <a:rPr lang="ar-SA" sz="2800" b="1" dirty="0" smtClean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(أمر إضافة كتاب)</a:t>
            </a:r>
            <a:endParaRPr lang="ar-SA" sz="2800" b="1" dirty="0">
              <a:solidFill>
                <a:srgbClr val="46222E"/>
              </a:solidFill>
              <a:latin typeface="Calibri" pitchFamily="34" charset="0"/>
              <a:ea typeface="Carollo Playscript"/>
              <a:cs typeface="Calibri" pitchFamily="34" charset="0"/>
              <a:sym typeface="Carollo Playscript"/>
            </a:endParaRPr>
          </a:p>
          <a:p>
            <a:pPr>
              <a:lnSpc>
                <a:spcPts val="4510"/>
              </a:lnSpc>
            </a:pPr>
            <a:endParaRPr lang="en-US" sz="3221" dirty="0">
              <a:solidFill>
                <a:srgbClr val="46222E"/>
              </a:solidFill>
              <a:latin typeface="Calibri" pitchFamily="34" charset="0"/>
              <a:ea typeface="Carollo Playscript"/>
              <a:cs typeface="Calibri" pitchFamily="34" charset="0"/>
              <a:sym typeface="Carollo Playscript"/>
            </a:endParaRPr>
          </a:p>
        </p:txBody>
      </p:sp>
      <p:sp>
        <p:nvSpPr>
          <p:cNvPr id="44" name="TextBox 15"/>
          <p:cNvSpPr txBox="1"/>
          <p:nvPr/>
        </p:nvSpPr>
        <p:spPr>
          <a:xfrm>
            <a:off x="308920" y="6480009"/>
            <a:ext cx="18550709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10"/>
              </a:lnSpc>
            </a:pPr>
            <a:endParaRPr lang="ar-SA" sz="3221" dirty="0" smtClean="0">
              <a:solidFill>
                <a:srgbClr val="46222E"/>
              </a:solidFill>
              <a:latin typeface="Carollo Playscript"/>
              <a:ea typeface="Carollo Playscript"/>
              <a:cs typeface="Carollo Playscript"/>
              <a:sym typeface="Carollo Playscript"/>
            </a:endParaRPr>
          </a:p>
          <a:p>
            <a:pPr>
              <a:lnSpc>
                <a:spcPts val="4510"/>
              </a:lnSpc>
            </a:pPr>
            <a:r>
              <a:rPr lang="en-US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6</a:t>
            </a:r>
            <a:r>
              <a:rPr lang="ar-SA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. </a:t>
            </a:r>
            <a:r>
              <a:rPr lang="en-US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Command.java                 - Command (</a:t>
            </a:r>
            <a:r>
              <a:rPr lang="ar-SA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واجهة </a:t>
            </a:r>
            <a:r>
              <a:rPr lang="ar-SA" sz="2800" b="1" dirty="0" smtClean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الأمر</a:t>
            </a:r>
            <a:r>
              <a:rPr lang="en-US" sz="3221" dirty="0" smtClean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)</a:t>
            </a:r>
            <a:endParaRPr lang="en-US" sz="3221" dirty="0">
              <a:solidFill>
                <a:srgbClr val="46222E"/>
              </a:solidFill>
              <a:latin typeface="Calibri" pitchFamily="34" charset="0"/>
              <a:ea typeface="Carollo Playscript"/>
              <a:cs typeface="Calibri" pitchFamily="34" charset="0"/>
              <a:sym typeface="Carollo Playscript"/>
            </a:endParaRPr>
          </a:p>
        </p:txBody>
      </p:sp>
      <p:sp>
        <p:nvSpPr>
          <p:cNvPr id="45" name="TextBox 15"/>
          <p:cNvSpPr txBox="1"/>
          <p:nvPr/>
        </p:nvSpPr>
        <p:spPr>
          <a:xfrm>
            <a:off x="221018" y="5418210"/>
            <a:ext cx="18550709" cy="17312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10"/>
              </a:lnSpc>
            </a:pPr>
            <a:endParaRPr lang="ar-SA" sz="3221" dirty="0" smtClean="0">
              <a:solidFill>
                <a:srgbClr val="46222E"/>
              </a:solidFill>
              <a:latin typeface="Carollo Playscript"/>
              <a:ea typeface="Carollo Playscript"/>
              <a:cs typeface="Carollo Playscript"/>
              <a:sym typeface="Carollo Playscript"/>
            </a:endParaRPr>
          </a:p>
          <a:p>
            <a:pPr>
              <a:lnSpc>
                <a:spcPts val="4510"/>
              </a:lnSpc>
            </a:pPr>
            <a:r>
              <a:rPr lang="en-US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5</a:t>
            </a:r>
            <a:r>
              <a:rPr lang="ar-SA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. </a:t>
            </a:r>
            <a:r>
              <a:rPr lang="en-US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LibraryItem.java             - Composite (</a:t>
            </a:r>
            <a:r>
              <a:rPr lang="ar-SA" sz="2800" b="1" dirty="0" smtClean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الواجهة</a:t>
            </a:r>
            <a:r>
              <a:rPr lang="en-US" sz="2800" b="1" dirty="0" smtClean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)</a:t>
            </a:r>
            <a:endParaRPr lang="ar-SA" sz="2800" b="1" dirty="0">
              <a:solidFill>
                <a:srgbClr val="46222E"/>
              </a:solidFill>
              <a:latin typeface="Calibri" pitchFamily="34" charset="0"/>
              <a:ea typeface="Carollo Playscript"/>
              <a:cs typeface="Calibri" pitchFamily="34" charset="0"/>
              <a:sym typeface="Carollo Playscript"/>
            </a:endParaRPr>
          </a:p>
          <a:p>
            <a:pPr>
              <a:lnSpc>
                <a:spcPts val="4510"/>
              </a:lnSpc>
            </a:pPr>
            <a:endParaRPr lang="en-US" sz="3221" dirty="0">
              <a:solidFill>
                <a:srgbClr val="46222E"/>
              </a:solidFill>
              <a:latin typeface="Calibri" pitchFamily="34" charset="0"/>
              <a:ea typeface="Carollo Playscript"/>
              <a:cs typeface="Calibri" pitchFamily="34" charset="0"/>
              <a:sym typeface="Carollo Playscript"/>
            </a:endParaRPr>
          </a:p>
        </p:txBody>
      </p:sp>
      <p:sp>
        <p:nvSpPr>
          <p:cNvPr id="46" name="TextBox 15"/>
          <p:cNvSpPr txBox="1"/>
          <p:nvPr/>
        </p:nvSpPr>
        <p:spPr>
          <a:xfrm>
            <a:off x="8742929" y="4898127"/>
            <a:ext cx="18550709" cy="17312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10"/>
              </a:lnSpc>
            </a:pPr>
            <a:endParaRPr lang="ar-SA" sz="3221" dirty="0" smtClean="0">
              <a:solidFill>
                <a:srgbClr val="46222E"/>
              </a:solidFill>
              <a:latin typeface="Carollo Playscript"/>
              <a:ea typeface="Carollo Playscript"/>
              <a:cs typeface="Carollo Playscript"/>
              <a:sym typeface="Carollo Playscript"/>
            </a:endParaRPr>
          </a:p>
          <a:p>
            <a:pPr>
              <a:lnSpc>
                <a:spcPts val="4510"/>
              </a:lnSpc>
            </a:pPr>
            <a:r>
              <a:rPr lang="en-US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11</a:t>
            </a:r>
            <a:r>
              <a:rPr lang="ar-SA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. </a:t>
            </a:r>
            <a:r>
              <a:rPr lang="en-US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DeleteSectionCommand.java   - Command (</a:t>
            </a:r>
            <a:r>
              <a:rPr lang="ar-SA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أمر حذف </a:t>
            </a:r>
            <a:r>
              <a:rPr lang="ar-SA" sz="2800" b="1" dirty="0" smtClean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قسم</a:t>
            </a:r>
            <a:r>
              <a:rPr lang="en-US" sz="2800" b="1" dirty="0" smtClean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)</a:t>
            </a:r>
            <a:endParaRPr lang="ar-SA" sz="2800" b="1" dirty="0">
              <a:solidFill>
                <a:srgbClr val="46222E"/>
              </a:solidFill>
              <a:latin typeface="Calibri" pitchFamily="34" charset="0"/>
              <a:ea typeface="Carollo Playscript"/>
              <a:cs typeface="Calibri" pitchFamily="34" charset="0"/>
              <a:sym typeface="Carollo Playscript"/>
            </a:endParaRPr>
          </a:p>
          <a:p>
            <a:pPr>
              <a:lnSpc>
                <a:spcPts val="4510"/>
              </a:lnSpc>
            </a:pPr>
            <a:endParaRPr lang="en-US" sz="3221" dirty="0">
              <a:solidFill>
                <a:srgbClr val="46222E"/>
              </a:solidFill>
              <a:latin typeface="Calibri" pitchFamily="34" charset="0"/>
              <a:ea typeface="Carollo Playscript"/>
              <a:cs typeface="Calibri" pitchFamily="34" charset="0"/>
              <a:sym typeface="Carollo Playscript"/>
            </a:endParaRPr>
          </a:p>
        </p:txBody>
      </p:sp>
      <p:sp>
        <p:nvSpPr>
          <p:cNvPr id="47" name="TextBox 15"/>
          <p:cNvSpPr txBox="1"/>
          <p:nvPr/>
        </p:nvSpPr>
        <p:spPr>
          <a:xfrm>
            <a:off x="328300" y="3786644"/>
            <a:ext cx="18550709" cy="17312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10"/>
              </a:lnSpc>
            </a:pPr>
            <a:endParaRPr lang="ar-SA" sz="3221" dirty="0" smtClean="0">
              <a:solidFill>
                <a:srgbClr val="46222E"/>
              </a:solidFill>
              <a:latin typeface="Carollo Playscript"/>
              <a:ea typeface="Carollo Playscript"/>
              <a:cs typeface="Carollo Playscript"/>
              <a:sym typeface="Carollo Playscript"/>
            </a:endParaRPr>
          </a:p>
          <a:p>
            <a:pPr>
              <a:lnSpc>
                <a:spcPts val="4510"/>
              </a:lnSpc>
            </a:pPr>
            <a:r>
              <a:rPr lang="en-US" sz="2800" b="1" dirty="0" smtClean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3</a:t>
            </a:r>
            <a:r>
              <a:rPr lang="ar-SA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. </a:t>
            </a:r>
            <a:r>
              <a:rPr lang="en-US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Book.java                    - Composite (</a:t>
            </a:r>
            <a:r>
              <a:rPr lang="ar-SA" sz="2800" b="1" dirty="0" smtClean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الكتاب</a:t>
            </a:r>
            <a:r>
              <a:rPr lang="en-US" sz="2800" b="1" dirty="0" smtClean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)</a:t>
            </a:r>
            <a:endParaRPr lang="ar-SA" sz="2800" b="1" dirty="0">
              <a:solidFill>
                <a:srgbClr val="46222E"/>
              </a:solidFill>
              <a:latin typeface="Calibri" pitchFamily="34" charset="0"/>
              <a:ea typeface="Carollo Playscript"/>
              <a:cs typeface="Calibri" pitchFamily="34" charset="0"/>
              <a:sym typeface="Carollo Playscript"/>
            </a:endParaRPr>
          </a:p>
          <a:p>
            <a:pPr>
              <a:lnSpc>
                <a:spcPts val="4510"/>
              </a:lnSpc>
            </a:pPr>
            <a:endParaRPr lang="en-US" sz="3221" dirty="0">
              <a:solidFill>
                <a:srgbClr val="46222E"/>
              </a:solidFill>
              <a:latin typeface="Calibri" pitchFamily="34" charset="0"/>
              <a:ea typeface="Carollo Playscript"/>
              <a:cs typeface="Calibri" pitchFamily="34" charset="0"/>
              <a:sym typeface="Carollo Playscript"/>
            </a:endParaRPr>
          </a:p>
        </p:txBody>
      </p:sp>
      <p:sp>
        <p:nvSpPr>
          <p:cNvPr id="48" name="TextBox 15"/>
          <p:cNvSpPr txBox="1"/>
          <p:nvPr/>
        </p:nvSpPr>
        <p:spPr>
          <a:xfrm>
            <a:off x="308920" y="4619477"/>
            <a:ext cx="18550709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10"/>
              </a:lnSpc>
            </a:pPr>
            <a:endParaRPr lang="ar-SA" sz="3221" dirty="0" smtClean="0">
              <a:solidFill>
                <a:srgbClr val="46222E"/>
              </a:solidFill>
              <a:latin typeface="Carollo Playscript"/>
              <a:ea typeface="Carollo Playscript"/>
              <a:cs typeface="Carollo Playscript"/>
              <a:sym typeface="Carollo Playscript"/>
            </a:endParaRPr>
          </a:p>
          <a:p>
            <a:pPr>
              <a:lnSpc>
                <a:spcPts val="4510"/>
              </a:lnSpc>
            </a:pPr>
            <a:r>
              <a:rPr lang="en-US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4</a:t>
            </a:r>
            <a:r>
              <a:rPr lang="ar-SA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. </a:t>
            </a:r>
            <a:r>
              <a:rPr lang="en-US" sz="2800" b="1" dirty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Section.java                 - Composite (</a:t>
            </a:r>
            <a:r>
              <a:rPr lang="ar-SA" sz="2800" b="1" dirty="0" smtClean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القسم</a:t>
            </a:r>
            <a:r>
              <a:rPr lang="en-US" sz="2800" b="1" dirty="0" smtClean="0">
                <a:solidFill>
                  <a:srgbClr val="46222E"/>
                </a:solidFill>
                <a:latin typeface="Calibri" pitchFamily="34" charset="0"/>
                <a:ea typeface="Carollo Playscript"/>
                <a:cs typeface="Calibri" pitchFamily="34" charset="0"/>
                <a:sym typeface="Carollo Playscript"/>
              </a:rPr>
              <a:t>)</a:t>
            </a:r>
            <a:endParaRPr lang="en-US" sz="2800" b="1" dirty="0">
              <a:solidFill>
                <a:srgbClr val="46222E"/>
              </a:solidFill>
              <a:latin typeface="Calibri" pitchFamily="34" charset="0"/>
              <a:ea typeface="Carollo Playscript"/>
              <a:cs typeface="Calibri" pitchFamily="34" charset="0"/>
              <a:sym typeface="Carollo Playscript"/>
            </a:endParaRPr>
          </a:p>
        </p:txBody>
      </p:sp>
      <p:pic>
        <p:nvPicPr>
          <p:cNvPr id="49" name="Picture 2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6292256" y="567571"/>
            <a:ext cx="2469724" cy="1938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81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369593" y="-78705"/>
            <a:ext cx="4318216" cy="2187978"/>
          </a:xfrm>
          <a:custGeom>
            <a:avLst/>
            <a:gdLst/>
            <a:ahLst/>
            <a:cxnLst/>
            <a:rect l="l" t="t" r="r" b="b"/>
            <a:pathLst>
              <a:path w="7644355" h="7029621">
                <a:moveTo>
                  <a:pt x="0" y="0"/>
                </a:moveTo>
                <a:lnTo>
                  <a:pt x="7644355" y="0"/>
                </a:lnTo>
                <a:lnTo>
                  <a:pt x="7644355" y="7029622"/>
                </a:lnTo>
                <a:lnTo>
                  <a:pt x="0" y="70296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887200" y="-4383938"/>
            <a:ext cx="10348352" cy="8767876"/>
          </a:xfrm>
          <a:custGeom>
            <a:avLst/>
            <a:gdLst/>
            <a:ahLst/>
            <a:cxnLst/>
            <a:rect l="l" t="t" r="r" b="b"/>
            <a:pathLst>
              <a:path w="10348352" h="8767876">
                <a:moveTo>
                  <a:pt x="0" y="0"/>
                </a:moveTo>
                <a:lnTo>
                  <a:pt x="10348351" y="0"/>
                </a:lnTo>
                <a:lnTo>
                  <a:pt x="10348351" y="8767876"/>
                </a:lnTo>
                <a:lnTo>
                  <a:pt x="0" y="87678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-3037862" y="7634174"/>
            <a:ext cx="10348352" cy="8767876"/>
          </a:xfrm>
          <a:custGeom>
            <a:avLst/>
            <a:gdLst/>
            <a:ahLst/>
            <a:cxnLst/>
            <a:rect l="l" t="t" r="r" b="b"/>
            <a:pathLst>
              <a:path w="10348352" h="8767876">
                <a:moveTo>
                  <a:pt x="10348352" y="0"/>
                </a:moveTo>
                <a:lnTo>
                  <a:pt x="0" y="0"/>
                </a:lnTo>
                <a:lnTo>
                  <a:pt x="0" y="8767876"/>
                </a:lnTo>
                <a:lnTo>
                  <a:pt x="10348352" y="8767876"/>
                </a:lnTo>
                <a:lnTo>
                  <a:pt x="1034835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713988" y="8872538"/>
            <a:ext cx="5700605" cy="4114800"/>
          </a:xfrm>
          <a:custGeom>
            <a:avLst/>
            <a:gdLst/>
            <a:ahLst/>
            <a:cxnLst/>
            <a:rect l="l" t="t" r="r" b="b"/>
            <a:pathLst>
              <a:path w="5700605" h="4114800">
                <a:moveTo>
                  <a:pt x="0" y="0"/>
                </a:moveTo>
                <a:lnTo>
                  <a:pt x="5700604" y="0"/>
                </a:lnTo>
                <a:lnTo>
                  <a:pt x="57006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922223" y="-2300869"/>
            <a:ext cx="5700605" cy="4114800"/>
          </a:xfrm>
          <a:custGeom>
            <a:avLst/>
            <a:gdLst/>
            <a:ahLst/>
            <a:cxnLst/>
            <a:rect l="l" t="t" r="r" b="b"/>
            <a:pathLst>
              <a:path w="5700605" h="4114800">
                <a:moveTo>
                  <a:pt x="0" y="0"/>
                </a:moveTo>
                <a:lnTo>
                  <a:pt x="5700604" y="0"/>
                </a:lnTo>
                <a:lnTo>
                  <a:pt x="57006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789256" y="1290255"/>
            <a:ext cx="1104559" cy="919545"/>
          </a:xfrm>
          <a:custGeom>
            <a:avLst/>
            <a:gdLst/>
            <a:ahLst/>
            <a:cxnLst/>
            <a:rect l="l" t="t" r="r" b="b"/>
            <a:pathLst>
              <a:path w="1104559" h="919545">
                <a:moveTo>
                  <a:pt x="0" y="0"/>
                </a:moveTo>
                <a:lnTo>
                  <a:pt x="1104559" y="0"/>
                </a:lnTo>
                <a:lnTo>
                  <a:pt x="1104559" y="919545"/>
                </a:lnTo>
                <a:lnTo>
                  <a:pt x="0" y="91954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228281" y="7738765"/>
            <a:ext cx="1104559" cy="919545"/>
          </a:xfrm>
          <a:custGeom>
            <a:avLst/>
            <a:gdLst/>
            <a:ahLst/>
            <a:cxnLst/>
            <a:rect l="l" t="t" r="r" b="b"/>
            <a:pathLst>
              <a:path w="1104559" h="919545">
                <a:moveTo>
                  <a:pt x="0" y="0"/>
                </a:moveTo>
                <a:lnTo>
                  <a:pt x="1104559" y="0"/>
                </a:lnTo>
                <a:lnTo>
                  <a:pt x="1104559" y="919546"/>
                </a:lnTo>
                <a:lnTo>
                  <a:pt x="0" y="91954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725909" y="5981700"/>
            <a:ext cx="2045817" cy="2057400"/>
          </a:xfrm>
          <a:custGeom>
            <a:avLst/>
            <a:gdLst/>
            <a:ahLst/>
            <a:cxnLst/>
            <a:rect l="l" t="t" r="r" b="b"/>
            <a:pathLst>
              <a:path w="2045817" h="2057400">
                <a:moveTo>
                  <a:pt x="0" y="0"/>
                </a:moveTo>
                <a:lnTo>
                  <a:pt x="2045818" y="0"/>
                </a:lnTo>
                <a:lnTo>
                  <a:pt x="204581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713988" y="721327"/>
            <a:ext cx="2045817" cy="2057400"/>
          </a:xfrm>
          <a:custGeom>
            <a:avLst/>
            <a:gdLst/>
            <a:ahLst/>
            <a:cxnLst/>
            <a:rect l="l" t="t" r="r" b="b"/>
            <a:pathLst>
              <a:path w="2045817" h="2057400">
                <a:moveTo>
                  <a:pt x="0" y="0"/>
                </a:moveTo>
                <a:lnTo>
                  <a:pt x="2045817" y="0"/>
                </a:lnTo>
                <a:lnTo>
                  <a:pt x="204581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308920" y="2778727"/>
            <a:ext cx="1928197" cy="1978560"/>
          </a:xfrm>
          <a:custGeom>
            <a:avLst/>
            <a:gdLst/>
            <a:ahLst/>
            <a:cxnLst/>
            <a:rect l="l" t="t" r="r" b="b"/>
            <a:pathLst>
              <a:path w="1928197" h="1978560">
                <a:moveTo>
                  <a:pt x="0" y="0"/>
                </a:moveTo>
                <a:lnTo>
                  <a:pt x="1928197" y="0"/>
                </a:lnTo>
                <a:lnTo>
                  <a:pt x="1928197" y="1978560"/>
                </a:lnTo>
                <a:lnTo>
                  <a:pt x="0" y="197856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437123" y="9258300"/>
            <a:ext cx="1900973" cy="1950626"/>
          </a:xfrm>
          <a:custGeom>
            <a:avLst/>
            <a:gdLst/>
            <a:ahLst/>
            <a:cxnLst/>
            <a:rect l="l" t="t" r="r" b="b"/>
            <a:pathLst>
              <a:path w="1900973" h="1950626">
                <a:moveTo>
                  <a:pt x="0" y="0"/>
                </a:moveTo>
                <a:lnTo>
                  <a:pt x="1900973" y="0"/>
                </a:lnTo>
                <a:lnTo>
                  <a:pt x="1900973" y="1950626"/>
                </a:lnTo>
                <a:lnTo>
                  <a:pt x="0" y="195062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3124200" y="618671"/>
            <a:ext cx="7266745" cy="1367542"/>
          </a:xfrm>
          <a:custGeom>
            <a:avLst/>
            <a:gdLst/>
            <a:ahLst/>
            <a:cxnLst/>
            <a:rect l="l" t="t" r="r" b="b"/>
            <a:pathLst>
              <a:path w="8879957" h="1859271">
                <a:moveTo>
                  <a:pt x="0" y="0"/>
                </a:moveTo>
                <a:lnTo>
                  <a:pt x="8879957" y="0"/>
                </a:lnTo>
                <a:lnTo>
                  <a:pt x="8879957" y="1859271"/>
                </a:lnTo>
                <a:lnTo>
                  <a:pt x="0" y="185927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=""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9739385" y="2124055"/>
            <a:ext cx="281340" cy="281340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273443" y="2778727"/>
            <a:ext cx="15621009" cy="60081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 </a:t>
            </a:r>
            <a:r>
              <a:rPr lang="ar-SA" sz="3200" b="1" dirty="0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لشرح تصميم النظام , حيث :</a:t>
            </a:r>
            <a:r>
              <a:rPr lang="en-US" sz="3200" b="1" dirty="0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 </a:t>
            </a:r>
            <a:r>
              <a:rPr lang="en-US" sz="3200" b="1" dirty="0" err="1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Uml</a:t>
            </a:r>
            <a:r>
              <a:rPr lang="en-US" sz="3200" b="1" dirty="0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 </a:t>
            </a:r>
            <a:r>
              <a:rPr lang="ar-SA" sz="3200" b="1" dirty="0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تم </a:t>
            </a:r>
            <a:r>
              <a:rPr lang="ar-SA" sz="3200" b="1" dirty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استخدام مخططات </a:t>
            </a:r>
            <a:endParaRPr lang="ar-SA" sz="3200" b="1" dirty="0" smtClean="0">
              <a:solidFill>
                <a:srgbClr val="46222E"/>
              </a:solidFill>
              <a:latin typeface="Calibri" pitchFamily="34" charset="0"/>
              <a:ea typeface="Wellfleet"/>
              <a:cs typeface="Calibri" pitchFamily="34" charset="0"/>
              <a:sym typeface="Wellfleet"/>
            </a:endParaRPr>
          </a:p>
          <a:p>
            <a:pPr algn="ctr">
              <a:lnSpc>
                <a:spcPct val="150000"/>
              </a:lnSpc>
            </a:pPr>
            <a:r>
              <a:rPr lang="en-US" sz="3200" b="1" dirty="0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  </a:t>
            </a:r>
            <a:r>
              <a:rPr lang="ar-SA" sz="3200" b="1" dirty="0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البنية العامة و العلاقات بين </a:t>
            </a:r>
            <a:r>
              <a:rPr lang="ar-SA" sz="3200" b="1" dirty="0" err="1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الكلاسات</a:t>
            </a:r>
            <a:r>
              <a:rPr lang="ar-SA" sz="3200" b="1" dirty="0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 .</a:t>
            </a:r>
            <a:r>
              <a:rPr lang="en-US" sz="3200" b="1" dirty="0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: Class </a:t>
            </a:r>
            <a:r>
              <a:rPr lang="en-US" sz="3200" b="1" dirty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Diagram </a:t>
            </a:r>
            <a:endParaRPr lang="en-US" sz="3200" b="1" dirty="0" smtClean="0">
              <a:solidFill>
                <a:srgbClr val="46222E"/>
              </a:solidFill>
              <a:latin typeface="Calibri" pitchFamily="34" charset="0"/>
              <a:ea typeface="Wellfleet"/>
              <a:cs typeface="Calibri" pitchFamily="34" charset="0"/>
              <a:sym typeface="Wellfleet"/>
            </a:endParaRPr>
          </a:p>
          <a:p>
            <a:pPr algn="ctr">
              <a:lnSpc>
                <a:spcPct val="150000"/>
              </a:lnSpc>
            </a:pPr>
            <a:r>
              <a:rPr lang="en-US" sz="3200" b="1" dirty="0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 </a:t>
            </a:r>
            <a:r>
              <a:rPr lang="ar-SA" sz="3200" b="1" dirty="0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يوضح </a:t>
            </a:r>
            <a:r>
              <a:rPr lang="ar-SA" sz="3200" b="1" dirty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وظائف النظام من وجهة نظر </a:t>
            </a:r>
            <a:r>
              <a:rPr lang="ar-SA" sz="3200" b="1" dirty="0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المستخدم.</a:t>
            </a:r>
            <a:r>
              <a:rPr lang="en-US" sz="3200" b="1" dirty="0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 : Use </a:t>
            </a:r>
            <a:r>
              <a:rPr lang="en-US" sz="3200" b="1" dirty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Case Diagram </a:t>
            </a:r>
            <a:endParaRPr lang="en-US" sz="3200" b="1" dirty="0" smtClean="0">
              <a:solidFill>
                <a:srgbClr val="46222E"/>
              </a:solidFill>
              <a:latin typeface="Calibri" pitchFamily="34" charset="0"/>
              <a:ea typeface="Wellfleet"/>
              <a:cs typeface="Calibri" pitchFamily="34" charset="0"/>
              <a:sym typeface="Wellfleet"/>
            </a:endParaRPr>
          </a:p>
          <a:p>
            <a:pPr algn="ctr">
              <a:lnSpc>
                <a:spcPct val="150000"/>
              </a:lnSpc>
            </a:pPr>
            <a:r>
              <a:rPr lang="en-US" sz="3200" b="1" dirty="0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 </a:t>
            </a:r>
            <a:r>
              <a:rPr lang="ar-SA" sz="3200" b="1" dirty="0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يوضح </a:t>
            </a:r>
            <a:r>
              <a:rPr lang="ar-SA" sz="3200" b="1" dirty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تسلسل تنفيذ العمليات داخل </a:t>
            </a:r>
            <a:r>
              <a:rPr lang="ar-SA" sz="3200" b="1" dirty="0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النظام .</a:t>
            </a:r>
            <a:r>
              <a:rPr lang="en-US" sz="3200" b="1" dirty="0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 : Sequence </a:t>
            </a:r>
            <a:r>
              <a:rPr lang="en-US" sz="3200" b="1" dirty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Diagram </a:t>
            </a:r>
            <a:endParaRPr lang="en-US" sz="3200" b="1" dirty="0" smtClean="0">
              <a:solidFill>
                <a:srgbClr val="46222E"/>
              </a:solidFill>
              <a:latin typeface="Calibri" pitchFamily="34" charset="0"/>
              <a:ea typeface="Wellfleet"/>
              <a:cs typeface="Calibri" pitchFamily="34" charset="0"/>
              <a:sym typeface="Wellfleet"/>
            </a:endParaRPr>
          </a:p>
          <a:p>
            <a:pPr algn="ctr">
              <a:lnSpc>
                <a:spcPct val="150000"/>
              </a:lnSpc>
            </a:pPr>
            <a:r>
              <a:rPr lang="ar-SA" sz="3200" b="1" dirty="0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كما </a:t>
            </a:r>
            <a:r>
              <a:rPr lang="ar-SA" sz="3200" b="1" dirty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تم تطبيق أنماط التصميم البرمجية لتحسين تنظيم الكود، تقليل التكرار، وزيادة قابلية الصيانة والتوسعة.</a:t>
            </a:r>
          </a:p>
          <a:p>
            <a:pPr algn="ctr">
              <a:lnSpc>
                <a:spcPct val="150000"/>
              </a:lnSpc>
            </a:pPr>
            <a:r>
              <a:rPr lang="ar-SA" sz="3200" b="1" dirty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ساعدت هذه الأنماط في فصل المسؤوليات داخل النظام وجعل التصميم أكثر وضوحًا ومرونة.</a:t>
            </a:r>
          </a:p>
          <a:p>
            <a:pPr algn="ctr">
              <a:lnSpc>
                <a:spcPct val="150000"/>
              </a:lnSpc>
            </a:pPr>
            <a:r>
              <a:rPr lang="ar-SA" sz="3200" b="1" dirty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في الختام، يحقق المشروع أهدافه من حيث التنظيم والتصميم الجيد، ويمكن تطويره مستقبلاً بإضافة واجهة رسومية أو قاعدة بيانات لزيادة كفاءة النظام.</a:t>
            </a:r>
            <a:endParaRPr lang="en-US" sz="3200" b="1" dirty="0">
              <a:solidFill>
                <a:srgbClr val="46222E"/>
              </a:solidFill>
              <a:latin typeface="Calibri" pitchFamily="34" charset="0"/>
              <a:ea typeface="Wellfleet"/>
              <a:cs typeface="Calibri" pitchFamily="34" charset="0"/>
              <a:sym typeface="Wellfleet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2770206" y="600402"/>
            <a:ext cx="7930343" cy="1359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637"/>
              </a:lnSpc>
            </a:pPr>
            <a:r>
              <a:rPr lang="ar-SA" sz="6000" b="1" dirty="0" smtClean="0">
                <a:solidFill>
                  <a:srgbClr val="FFF6E7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الخلاصة</a:t>
            </a:r>
            <a:r>
              <a:rPr lang="ar-SA" sz="4400" b="1" dirty="0" smtClean="0">
                <a:solidFill>
                  <a:srgbClr val="FFF6E7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 </a:t>
            </a:r>
            <a:endParaRPr lang="en-US" sz="4400" b="1" dirty="0">
              <a:solidFill>
                <a:srgbClr val="FFF6E7"/>
              </a:solidFill>
              <a:latin typeface="Calibri" pitchFamily="34" charset="0"/>
              <a:ea typeface="Wellfleet"/>
              <a:cs typeface="Calibri" pitchFamily="34" charset="0"/>
              <a:sym typeface="Wellfleet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10028080" y="9833211"/>
            <a:ext cx="400402" cy="40040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7500816" y="5649638"/>
            <a:ext cx="248002" cy="24800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TextBox 13"/>
          <p:cNvSpPr txBox="1"/>
          <p:nvPr/>
        </p:nvSpPr>
        <p:spPr>
          <a:xfrm>
            <a:off x="16478979" y="9259961"/>
            <a:ext cx="780321" cy="653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33"/>
              </a:lnSpc>
            </a:pPr>
            <a:r>
              <a:rPr lang="en-US" sz="3880" dirty="0" smtClean="0">
                <a:solidFill>
                  <a:srgbClr val="46222E"/>
                </a:solidFill>
                <a:latin typeface="Wellfleet"/>
                <a:ea typeface="Wellfleet"/>
                <a:cs typeface="Wellfleet"/>
                <a:sym typeface="Wellfleet"/>
              </a:rPr>
              <a:t>08</a:t>
            </a:r>
            <a:endParaRPr lang="en-US" sz="3880" dirty="0">
              <a:solidFill>
                <a:srgbClr val="46222E"/>
              </a:solidFill>
              <a:latin typeface="Wellfleet"/>
              <a:ea typeface="Wellfleet"/>
              <a:cs typeface="Wellfleet"/>
              <a:sym typeface="Wellfleet"/>
            </a:endParaRPr>
          </a:p>
        </p:txBody>
      </p:sp>
      <p:grpSp>
        <p:nvGrpSpPr>
          <p:cNvPr id="31" name="Group 10"/>
          <p:cNvGrpSpPr/>
          <p:nvPr/>
        </p:nvGrpSpPr>
        <p:grpSpPr>
          <a:xfrm>
            <a:off x="15903173" y="9103519"/>
            <a:ext cx="3443288" cy="966788"/>
            <a:chOff x="0" y="0"/>
            <a:chExt cx="906874" cy="254627"/>
          </a:xfrm>
        </p:grpSpPr>
        <p:sp>
          <p:nvSpPr>
            <p:cNvPr id="32" name="Freeform 11"/>
            <p:cNvSpPr/>
            <p:nvPr/>
          </p:nvSpPr>
          <p:spPr>
            <a:xfrm>
              <a:off x="0" y="0"/>
              <a:ext cx="906874" cy="254627"/>
            </a:xfrm>
            <a:custGeom>
              <a:avLst/>
              <a:gdLst/>
              <a:ahLst/>
              <a:cxnLst/>
              <a:rect l="l" t="t" r="r" b="b"/>
              <a:pathLst>
                <a:path w="906874" h="254627">
                  <a:moveTo>
                    <a:pt x="127314" y="0"/>
                  </a:moveTo>
                  <a:lnTo>
                    <a:pt x="779561" y="0"/>
                  </a:lnTo>
                  <a:cubicBezTo>
                    <a:pt x="813326" y="0"/>
                    <a:pt x="845709" y="13413"/>
                    <a:pt x="869585" y="37289"/>
                  </a:cubicBezTo>
                  <a:cubicBezTo>
                    <a:pt x="893461" y="61165"/>
                    <a:pt x="906874" y="93548"/>
                    <a:pt x="906874" y="127314"/>
                  </a:cubicBezTo>
                  <a:lnTo>
                    <a:pt x="906874" y="127314"/>
                  </a:lnTo>
                  <a:cubicBezTo>
                    <a:pt x="906874" y="197627"/>
                    <a:pt x="849874" y="254627"/>
                    <a:pt x="779561" y="254627"/>
                  </a:cubicBezTo>
                  <a:lnTo>
                    <a:pt x="127314" y="254627"/>
                  </a:lnTo>
                  <a:cubicBezTo>
                    <a:pt x="93548" y="254627"/>
                    <a:pt x="61165" y="241214"/>
                    <a:pt x="37289" y="217338"/>
                  </a:cubicBezTo>
                  <a:cubicBezTo>
                    <a:pt x="13413" y="193462"/>
                    <a:pt x="0" y="161079"/>
                    <a:pt x="0" y="127314"/>
                  </a:cubicBezTo>
                  <a:lnTo>
                    <a:pt x="0" y="127314"/>
                  </a:lnTo>
                  <a:cubicBezTo>
                    <a:pt x="0" y="93548"/>
                    <a:pt x="13413" y="61165"/>
                    <a:pt x="37289" y="37289"/>
                  </a:cubicBezTo>
                  <a:cubicBezTo>
                    <a:pt x="61165" y="13413"/>
                    <a:pt x="93548" y="0"/>
                    <a:pt x="127314" y="0"/>
                  </a:cubicBezTo>
                  <a:close/>
                </a:path>
              </a:pathLst>
            </a:custGeom>
            <a:solidFill>
              <a:srgbClr val="D2BAA4"/>
            </a:solidFill>
          </p:spPr>
        </p:sp>
        <p:sp>
          <p:nvSpPr>
            <p:cNvPr id="33" name="TextBox 12"/>
            <p:cNvSpPr txBox="1"/>
            <p:nvPr/>
          </p:nvSpPr>
          <p:spPr>
            <a:xfrm>
              <a:off x="0" y="-38100"/>
              <a:ext cx="906874" cy="2927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4" name="TextBox 13"/>
          <p:cNvSpPr txBox="1"/>
          <p:nvPr/>
        </p:nvSpPr>
        <p:spPr>
          <a:xfrm>
            <a:off x="16487187" y="9293852"/>
            <a:ext cx="780321" cy="653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33"/>
              </a:lnSpc>
            </a:pPr>
            <a:r>
              <a:rPr lang="en-US" sz="3880" dirty="0" smtClean="0">
                <a:solidFill>
                  <a:srgbClr val="46222E"/>
                </a:solidFill>
                <a:latin typeface="Wellfleet"/>
                <a:ea typeface="Wellfleet"/>
                <a:cs typeface="Wellfleet"/>
                <a:sym typeface="Wellfleet"/>
              </a:rPr>
              <a:t>08</a:t>
            </a:r>
            <a:endParaRPr lang="en-US" sz="3880" dirty="0">
              <a:solidFill>
                <a:srgbClr val="46222E"/>
              </a:solidFill>
              <a:latin typeface="Wellfleet"/>
              <a:ea typeface="Wellfleet"/>
              <a:cs typeface="Wellfleet"/>
              <a:sym typeface="Wellfleet"/>
            </a:endParaRPr>
          </a:p>
        </p:txBody>
      </p:sp>
      <p:pic>
        <p:nvPicPr>
          <p:cNvPr id="35" name="Picture 3"/>
          <p:cNvPicPr>
            <a:picLocks noChangeAspect="1"/>
          </p:cNvPicPr>
          <p:nvPr/>
        </p:nvPicPr>
        <p:blipFill>
          <a:blip r:embed="rId15"/>
          <a:srcRect/>
          <a:stretch>
            <a:fillRect/>
          </a:stretch>
        </p:blipFill>
        <p:spPr>
          <a:xfrm rot="923286">
            <a:off x="2789256" y="2264725"/>
            <a:ext cx="2480383" cy="282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679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597551" y="-5638914"/>
            <a:ext cx="10348352" cy="8767876"/>
          </a:xfrm>
          <a:custGeom>
            <a:avLst/>
            <a:gdLst/>
            <a:ahLst/>
            <a:cxnLst/>
            <a:rect l="l" t="t" r="r" b="b"/>
            <a:pathLst>
              <a:path w="10348352" h="8767876">
                <a:moveTo>
                  <a:pt x="0" y="0"/>
                </a:moveTo>
                <a:lnTo>
                  <a:pt x="10348351" y="0"/>
                </a:lnTo>
                <a:lnTo>
                  <a:pt x="10348351" y="8767876"/>
                </a:lnTo>
                <a:lnTo>
                  <a:pt x="0" y="87678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3037862" y="7634174"/>
            <a:ext cx="10348352" cy="8767876"/>
          </a:xfrm>
          <a:custGeom>
            <a:avLst/>
            <a:gdLst/>
            <a:ahLst/>
            <a:cxnLst/>
            <a:rect l="l" t="t" r="r" b="b"/>
            <a:pathLst>
              <a:path w="10348352" h="8767876">
                <a:moveTo>
                  <a:pt x="10348352" y="0"/>
                </a:moveTo>
                <a:lnTo>
                  <a:pt x="0" y="0"/>
                </a:lnTo>
                <a:lnTo>
                  <a:pt x="0" y="8767876"/>
                </a:lnTo>
                <a:lnTo>
                  <a:pt x="10348352" y="8767876"/>
                </a:lnTo>
                <a:lnTo>
                  <a:pt x="1034835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713988" y="8872538"/>
            <a:ext cx="5700605" cy="4114800"/>
          </a:xfrm>
          <a:custGeom>
            <a:avLst/>
            <a:gdLst/>
            <a:ahLst/>
            <a:cxnLst/>
            <a:rect l="l" t="t" r="r" b="b"/>
            <a:pathLst>
              <a:path w="5700605" h="4114800">
                <a:moveTo>
                  <a:pt x="0" y="0"/>
                </a:moveTo>
                <a:lnTo>
                  <a:pt x="5700604" y="0"/>
                </a:lnTo>
                <a:lnTo>
                  <a:pt x="57006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437698" y="-1905000"/>
            <a:ext cx="5700605" cy="4114800"/>
          </a:xfrm>
          <a:custGeom>
            <a:avLst/>
            <a:gdLst/>
            <a:ahLst/>
            <a:cxnLst/>
            <a:rect l="l" t="t" r="r" b="b"/>
            <a:pathLst>
              <a:path w="5700605" h="4114800">
                <a:moveTo>
                  <a:pt x="0" y="0"/>
                </a:moveTo>
                <a:lnTo>
                  <a:pt x="5700604" y="0"/>
                </a:lnTo>
                <a:lnTo>
                  <a:pt x="57006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979756" y="830482"/>
            <a:ext cx="1104559" cy="919545"/>
          </a:xfrm>
          <a:custGeom>
            <a:avLst/>
            <a:gdLst/>
            <a:ahLst/>
            <a:cxnLst/>
            <a:rect l="l" t="t" r="r" b="b"/>
            <a:pathLst>
              <a:path w="1104559" h="919545">
                <a:moveTo>
                  <a:pt x="0" y="0"/>
                </a:moveTo>
                <a:lnTo>
                  <a:pt x="1104559" y="0"/>
                </a:lnTo>
                <a:lnTo>
                  <a:pt x="1104559" y="919545"/>
                </a:lnTo>
                <a:lnTo>
                  <a:pt x="0" y="9195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918843" y="568927"/>
            <a:ext cx="1104559" cy="919545"/>
          </a:xfrm>
          <a:custGeom>
            <a:avLst/>
            <a:gdLst/>
            <a:ahLst/>
            <a:cxnLst/>
            <a:rect l="l" t="t" r="r" b="b"/>
            <a:pathLst>
              <a:path w="1104559" h="919545">
                <a:moveTo>
                  <a:pt x="0" y="0"/>
                </a:moveTo>
                <a:lnTo>
                  <a:pt x="1104559" y="0"/>
                </a:lnTo>
                <a:lnTo>
                  <a:pt x="1104559" y="919546"/>
                </a:lnTo>
                <a:lnTo>
                  <a:pt x="0" y="9195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725909" y="6737985"/>
            <a:ext cx="2045817" cy="2057400"/>
          </a:xfrm>
          <a:custGeom>
            <a:avLst/>
            <a:gdLst/>
            <a:ahLst/>
            <a:cxnLst/>
            <a:rect l="l" t="t" r="r" b="b"/>
            <a:pathLst>
              <a:path w="2045817" h="2057400">
                <a:moveTo>
                  <a:pt x="0" y="0"/>
                </a:moveTo>
                <a:lnTo>
                  <a:pt x="2045818" y="0"/>
                </a:lnTo>
                <a:lnTo>
                  <a:pt x="204581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475761" y="261555"/>
            <a:ext cx="2045817" cy="2057400"/>
          </a:xfrm>
          <a:custGeom>
            <a:avLst/>
            <a:gdLst/>
            <a:ahLst/>
            <a:cxnLst/>
            <a:rect l="l" t="t" r="r" b="b"/>
            <a:pathLst>
              <a:path w="2045817" h="2057400">
                <a:moveTo>
                  <a:pt x="0" y="0"/>
                </a:moveTo>
                <a:lnTo>
                  <a:pt x="2045817" y="0"/>
                </a:lnTo>
                <a:lnTo>
                  <a:pt x="204581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5848580" y="9136856"/>
            <a:ext cx="3443288" cy="966788"/>
            <a:chOff x="0" y="0"/>
            <a:chExt cx="906874" cy="25462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06874" cy="254627"/>
            </a:xfrm>
            <a:custGeom>
              <a:avLst/>
              <a:gdLst/>
              <a:ahLst/>
              <a:cxnLst/>
              <a:rect l="l" t="t" r="r" b="b"/>
              <a:pathLst>
                <a:path w="906874" h="254627">
                  <a:moveTo>
                    <a:pt x="127314" y="0"/>
                  </a:moveTo>
                  <a:lnTo>
                    <a:pt x="779561" y="0"/>
                  </a:lnTo>
                  <a:cubicBezTo>
                    <a:pt x="813326" y="0"/>
                    <a:pt x="845709" y="13413"/>
                    <a:pt x="869585" y="37289"/>
                  </a:cubicBezTo>
                  <a:cubicBezTo>
                    <a:pt x="893461" y="61165"/>
                    <a:pt x="906874" y="93548"/>
                    <a:pt x="906874" y="127314"/>
                  </a:cubicBezTo>
                  <a:lnTo>
                    <a:pt x="906874" y="127314"/>
                  </a:lnTo>
                  <a:cubicBezTo>
                    <a:pt x="906874" y="197627"/>
                    <a:pt x="849874" y="254627"/>
                    <a:pt x="779561" y="254627"/>
                  </a:cubicBezTo>
                  <a:lnTo>
                    <a:pt x="127314" y="254627"/>
                  </a:lnTo>
                  <a:cubicBezTo>
                    <a:pt x="93548" y="254627"/>
                    <a:pt x="61165" y="241214"/>
                    <a:pt x="37289" y="217338"/>
                  </a:cubicBezTo>
                  <a:cubicBezTo>
                    <a:pt x="13413" y="193462"/>
                    <a:pt x="0" y="161079"/>
                    <a:pt x="0" y="127314"/>
                  </a:cubicBezTo>
                  <a:lnTo>
                    <a:pt x="0" y="127314"/>
                  </a:lnTo>
                  <a:cubicBezTo>
                    <a:pt x="0" y="93548"/>
                    <a:pt x="13413" y="61165"/>
                    <a:pt x="37289" y="37289"/>
                  </a:cubicBezTo>
                  <a:cubicBezTo>
                    <a:pt x="61165" y="13413"/>
                    <a:pt x="93548" y="0"/>
                    <a:pt x="127314" y="0"/>
                  </a:cubicBezTo>
                  <a:close/>
                </a:path>
              </a:pathLst>
            </a:custGeom>
            <a:solidFill>
              <a:srgbClr val="D2BAA4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906874" cy="2927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6478979" y="9259961"/>
            <a:ext cx="780321" cy="653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33"/>
              </a:lnSpc>
            </a:pPr>
            <a:r>
              <a:rPr lang="en-US" sz="3880" dirty="0" smtClean="0">
                <a:solidFill>
                  <a:srgbClr val="46222E"/>
                </a:solidFill>
                <a:latin typeface="Wellfleet"/>
                <a:ea typeface="Wellfleet"/>
                <a:cs typeface="Wellfleet"/>
                <a:sym typeface="Wellfleet"/>
              </a:rPr>
              <a:t>09</a:t>
            </a:r>
            <a:endParaRPr lang="en-US" sz="3880" dirty="0">
              <a:solidFill>
                <a:srgbClr val="46222E"/>
              </a:solidFill>
              <a:latin typeface="Wellfleet"/>
              <a:ea typeface="Wellfleet"/>
              <a:cs typeface="Wellfleet"/>
              <a:sym typeface="Wellfleet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773050" y="5124038"/>
            <a:ext cx="8917697" cy="1299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70"/>
              </a:lnSpc>
            </a:pPr>
            <a:r>
              <a:rPr lang="ar-SA" sz="7693" b="1" dirty="0" smtClean="0">
                <a:solidFill>
                  <a:srgbClr val="46222E"/>
                </a:solidFill>
                <a:latin typeface="Calibri" pitchFamily="34" charset="0"/>
                <a:ea typeface="Wellfleet"/>
                <a:cs typeface="Calibri" pitchFamily="34" charset="0"/>
                <a:sym typeface="Wellfleet"/>
              </a:rPr>
              <a:t>أي سؤال ؟</a:t>
            </a:r>
            <a:endParaRPr lang="en-US" sz="7693" b="1" dirty="0">
              <a:solidFill>
                <a:srgbClr val="46222E"/>
              </a:solidFill>
              <a:latin typeface="Calibri" pitchFamily="34" charset="0"/>
              <a:ea typeface="Wellfleet"/>
              <a:cs typeface="Calibri" pitchFamily="34" charset="0"/>
              <a:sym typeface="Wellfleet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5773051" y="8604837"/>
            <a:ext cx="1036953" cy="1064038"/>
          </a:xfrm>
          <a:custGeom>
            <a:avLst/>
            <a:gdLst/>
            <a:ahLst/>
            <a:cxnLst/>
            <a:rect l="l" t="t" r="r" b="b"/>
            <a:pathLst>
              <a:path w="1036953" h="1064038">
                <a:moveTo>
                  <a:pt x="0" y="0"/>
                </a:moveTo>
                <a:lnTo>
                  <a:pt x="1036953" y="0"/>
                </a:lnTo>
                <a:lnTo>
                  <a:pt x="1036953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6912521" y="1988296"/>
            <a:ext cx="1036953" cy="1064038"/>
          </a:xfrm>
          <a:custGeom>
            <a:avLst/>
            <a:gdLst/>
            <a:ahLst/>
            <a:cxnLst/>
            <a:rect l="l" t="t" r="r" b="b"/>
            <a:pathLst>
              <a:path w="1036953" h="1064038">
                <a:moveTo>
                  <a:pt x="0" y="0"/>
                </a:moveTo>
                <a:lnTo>
                  <a:pt x="1036953" y="0"/>
                </a:lnTo>
                <a:lnTo>
                  <a:pt x="1036953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510223" y="1986915"/>
            <a:ext cx="1036953" cy="1064038"/>
          </a:xfrm>
          <a:custGeom>
            <a:avLst/>
            <a:gdLst/>
            <a:ahLst/>
            <a:cxnLst/>
            <a:rect l="l" t="t" r="r" b="b"/>
            <a:pathLst>
              <a:path w="1036953" h="1064038">
                <a:moveTo>
                  <a:pt x="0" y="0"/>
                </a:moveTo>
                <a:lnTo>
                  <a:pt x="1036954" y="0"/>
                </a:lnTo>
                <a:lnTo>
                  <a:pt x="1036954" y="1064038"/>
                </a:lnTo>
                <a:lnTo>
                  <a:pt x="0" y="10640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9614945" y="9058099"/>
            <a:ext cx="400402" cy="400402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7500816" y="5649638"/>
            <a:ext cx="248002" cy="24800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47360" y="5869717"/>
            <a:ext cx="281340" cy="281340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D4C1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9" name="Freeform 13"/>
          <p:cNvSpPr/>
          <p:nvPr/>
        </p:nvSpPr>
        <p:spPr>
          <a:xfrm>
            <a:off x="1545555" y="3883270"/>
            <a:ext cx="3720313" cy="4241045"/>
          </a:xfrm>
          <a:custGeom>
            <a:avLst/>
            <a:gdLst/>
            <a:ahLst/>
            <a:cxnLst/>
            <a:rect l="l" t="t" r="r" b="b"/>
            <a:pathLst>
              <a:path w="4955736" h="5315219">
                <a:moveTo>
                  <a:pt x="0" y="0"/>
                </a:moveTo>
                <a:lnTo>
                  <a:pt x="4955736" y="0"/>
                </a:lnTo>
                <a:lnTo>
                  <a:pt x="4955736" y="5315219"/>
                </a:lnTo>
                <a:lnTo>
                  <a:pt x="0" y="531521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59890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339</Words>
  <Application>Microsoft Office PowerPoint</Application>
  <PresentationFormat>مخصص</PresentationFormat>
  <Paragraphs>69</Paragraphs>
  <Slides>10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6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10</vt:i4>
      </vt:variant>
    </vt:vector>
  </HeadingPairs>
  <TitlesOfParts>
    <vt:vector size="17" baseType="lpstr">
      <vt:lpstr>Arial</vt:lpstr>
      <vt:lpstr>Wellfleet</vt:lpstr>
      <vt:lpstr>Carollo Playscript</vt:lpstr>
      <vt:lpstr>Castellar</vt:lpstr>
      <vt:lpstr>Calibri</vt:lpstr>
      <vt:lpstr>Wingdings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creator>kholoud</dc:creator>
  <cp:lastModifiedBy>kholoud</cp:lastModifiedBy>
  <cp:revision>31</cp:revision>
  <dcterms:created xsi:type="dcterms:W3CDTF">2006-08-16T00:00:00Z</dcterms:created>
  <dcterms:modified xsi:type="dcterms:W3CDTF">2025-12-20T17:03:48Z</dcterms:modified>
  <dc:identifier>DAG79ZKXGAI</dc:identifier>
</cp:coreProperties>
</file>